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Replace the placeholder names and guide name on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shop needs an online presence, then walk through the five objectives. Adjust the wording to match your project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items were added after the first review. Remove anything that was already shown in your first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MVT layers are now working. The Model layer stores products, feedback and orders in SQLite. The cart is kept in the browser session until the order is 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modules are complete. Only customer login and online payment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demo. Screenshots are shown in case the demo fails. Next slides cover the database design, cart workflow and admin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tables and the one-to-many relationship between Order and OrderItem. Price is copied into OrderItem so old orders keep the price 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 left to right. The cart lives in the session and is written to the database only when the order is 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cart, the confirmation page, then the same order inside the admin panel. Customer name and address in these screenshots are sample test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or add your own real problems if you faced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phases. Add real dates or weeks for each phase to make the plan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PROGRESS REVIEW  ·  LATEST VERSION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60350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Dream Furniture Shop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8521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7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Django web application with a database, shopping cart and order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480560"/>
            <a:ext cx="5760720" cy="1554480"/>
          </a:xfrm>
          <a:prstGeom prst="rect">
            <a:avLst/>
          </a:prstGeom>
          <a:solidFill>
            <a:srgbClr val="3D2D24"/>
          </a:solidFill>
          <a:ln w="12700">
            <a:solidFill>
              <a:srgbClr val="3D2D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663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983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Vaibhav Bhor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 </a:t>
            </a:r>
            <a:r>
              <a:rPr lang="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Samadhan Hake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</a:t>
            </a:r>
            <a:r>
              <a:rPr lang="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Sakshi Londhe</a:t>
            </a:r>
            <a:endParaRPr lang="" altLang="en-US" sz="17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05840" y="54864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Guide: </a:t>
            </a:r>
            <a:r>
              <a:rPr lang="" altLang="en-US" sz="1500" dirty="0">
                <a:solidFill>
                  <a:srgbClr val="E7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Sharmila Shaikh</a:t>
            </a:r>
            <a:endParaRPr lang="" altLang="en-US" sz="1500" dirty="0">
              <a:solidFill>
                <a:srgbClr val="E7D9C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9" name="Image 0" descr="t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4663440" cy="26243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49440" y="45262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DBF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page of the running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2976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furniture shops depend on walk-in customers. Without a website, buyers cannot browse products, compare prices or place orders before visiting the store.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7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answer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 application that puts the catalogue, offers, cart and ordering online, with all data stored in a database.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548640" cy="5486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2402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858000" y="21031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the shop a professional online presence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035040" y="2889504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02666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58000" y="2889504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products from a database with images and prices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035040" y="3675888"/>
            <a:ext cx="548640" cy="5486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130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58000" y="367588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customers add items to a cart and place orders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035040" y="4462272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59943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4462272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and store customer feedback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6035040" y="5248656"/>
            <a:ext cx="548640" cy="5486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38581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58000" y="5248656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the owner manage everything from an admin panel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After 1st Progress Presentation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76672" cy="132588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848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28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4028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tables: Product, ContactMessage, Order, OrderItem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76672" cy="132588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1947672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1828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24028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products, messages and orders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063240"/>
            <a:ext cx="5376672" cy="132588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456432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935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33375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form saves data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37490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request stored in the database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263640" y="3063240"/>
            <a:ext cx="5376672" cy="132588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3456432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59359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33375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cart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37490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 button adds items; session-based cart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5376672" cy="132588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4965192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0235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00200" y="4846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and orders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1600200" y="525780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and items saved; confirmation page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263640" y="4572000"/>
            <a:ext cx="5376672" cy="132588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537960" y="4965192"/>
            <a:ext cx="548640" cy="54864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510235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315200" y="4846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Styled interface</a:t>
            </a:r>
            <a:endParaRPr lang="en-US" sz="1900" dirty="0"/>
          </a:p>
        </p:txBody>
      </p:sp>
      <p:sp>
        <p:nvSpPr>
          <p:cNvPr id="34" name="Text 26"/>
          <p:cNvSpPr txBox="1"/>
          <p:nvPr/>
        </p:nvSpPr>
        <p:spPr>
          <a:xfrm>
            <a:off x="7315200" y="525780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CSS, navbar, cards, mobile friendly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/ Architecture / Methodology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377440" cy="1188720"/>
          </a:xfrm>
          <a:prstGeom prst="rect">
            <a:avLst/>
          </a:prstGeom>
          <a:solidFill>
            <a:srgbClr val="2E211A"/>
          </a:solidFill>
          <a:ln w="12700">
            <a:solidFill>
              <a:srgbClr val="2E21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and CSS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240280"/>
            <a:ext cx="50292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645920"/>
            <a:ext cx="2377440" cy="1188720"/>
          </a:xfrm>
          <a:prstGeom prst="rect">
            <a:avLst/>
          </a:prstGeom>
          <a:solidFill>
            <a:srgbClr val="2E211A"/>
          </a:solidFill>
          <a:ln w="12700">
            <a:solidFill>
              <a:srgbClr val="2E21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783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urls.py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 router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50292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1645920"/>
            <a:ext cx="2377440" cy="1188720"/>
          </a:xfrm>
          <a:prstGeom prst="rect">
            <a:avLst/>
          </a:prstGeom>
          <a:solidFill>
            <a:srgbClr val="2E211A"/>
          </a:solidFill>
          <a:ln w="12700">
            <a:solidFill>
              <a:srgbClr val="2E21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783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views.py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286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 + cart logic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0" y="2240280"/>
            <a:ext cx="50292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9720" y="1645920"/>
            <a:ext cx="2377440" cy="1188720"/>
          </a:xfrm>
          <a:prstGeom prst="rect">
            <a:avLst/>
          </a:prstGeom>
          <a:solidFill>
            <a:srgbClr val="2E211A"/>
          </a:solidFill>
          <a:ln w="12700">
            <a:solidFill>
              <a:srgbClr val="2E21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9720" y="1783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286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+ 6 pages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2834640"/>
            <a:ext cx="0" cy="822960"/>
          </a:xfrm>
          <a:prstGeom prst="line">
            <a:avLst/>
          </a:prstGeom>
          <a:noFill/>
          <a:ln w="31750">
            <a:solidFill>
              <a:srgbClr val="5E7F6E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3657600"/>
            <a:ext cx="2377440" cy="1005840"/>
          </a:xfrm>
          <a:prstGeom prst="rect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7947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+ SQLite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2245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737360" y="2834640"/>
            <a:ext cx="0" cy="822960"/>
          </a:xfrm>
          <a:prstGeom prst="line">
            <a:avLst/>
          </a:prstGeom>
          <a:noFill/>
          <a:ln w="19050">
            <a:solidFill>
              <a:srgbClr val="6B625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3657600"/>
            <a:ext cx="2377440" cy="1005840"/>
          </a:xfrm>
          <a:prstGeom prst="rect">
            <a:avLst/>
          </a:prstGeom>
          <a:solidFill>
            <a:srgbClr val="F4F1EE"/>
          </a:solidFill>
          <a:ln w="12700">
            <a:solidFill>
              <a:srgbClr val="D8D2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7947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cart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245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per browser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3246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7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3611880"/>
            <a:ext cx="25603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requests a URL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urls.py picks the view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reads or writes the database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 builds the HTML page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49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651760" y="534924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51760" y="5349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MVT pattern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389120" y="534924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5349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Incremental build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0" y="534924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0" y="53492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+ Python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0" y="534924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0" y="53492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ORM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332720" y="534924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332720" y="53492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/ CSS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Developed and Current Status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5029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508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Banner, tagline, navigation bar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29800" y="1572768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29800" y="1572768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084832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page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084832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 loaded from the database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829800" y="2148840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29800" y="2148840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091672" cy="5029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66090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page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660904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Description and special offer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29800" y="2724912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29800" y="2724912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36976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236976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form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236976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saved to the database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29800" y="3300984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29800" y="3300984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813048"/>
            <a:ext cx="11091672" cy="5029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81304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cart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81304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remove, totals, 5000+ offer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829800" y="3877056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29800" y="3877056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3891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and orders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977640" y="438912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+ items saved, confirmation page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829800" y="4453128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29800" y="4453128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965192"/>
            <a:ext cx="11091672" cy="5029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965192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" alt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Receipt</a:t>
            </a:r>
            <a:endParaRPr lang="" altLang="en-US" sz="1700" b="1" dirty="0">
              <a:solidFill>
                <a:srgbClr val="2E211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3977640" y="4965192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" alt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will send to the customer</a:t>
            </a:r>
            <a:endParaRPr lang="" altLang="en-US" sz="1500" dirty="0">
              <a:solidFill>
                <a:srgbClr val="6B62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829800" y="5029200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29800" y="5029200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</a:t>
            </a:r>
            <a:endParaRPr lang="" alt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541264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54126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and payment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3977640" y="5541264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accounts, online payment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829800" y="5605272"/>
            <a:ext cx="1554480" cy="374904"/>
          </a:xfrm>
          <a:prstGeom prst="roundRect">
            <a:avLst>
              <a:gd name="adj" fmla="val 48780"/>
            </a:avLst>
          </a:prstGeom>
          <a:solidFill>
            <a:srgbClr val="8A8178"/>
          </a:solidFill>
          <a:ln w="12700">
            <a:solidFill>
              <a:srgbClr val="8A817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29800" y="5605272"/>
            <a:ext cx="155448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Implementation, Screenshots and Working Demo</a:t>
            </a:r>
            <a:endParaRPr lang="en-US" sz="3200" dirty="0"/>
          </a:p>
        </p:txBody>
      </p:sp>
      <p:pic>
        <p:nvPicPr>
          <p:cNvPr id="5" name="Image 0" descr="s_v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57600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71600"/>
            <a:ext cx="3657600" cy="2057400"/>
          </a:xfrm>
          <a:prstGeom prst="rect">
            <a:avLst/>
          </a:prstGeom>
          <a:ln w="12700">
            <a:solidFill>
              <a:srgbClr val="D8D2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 /home/</a:t>
            </a:r>
            <a:endParaRPr lang="en-US" sz="1300" dirty="0"/>
          </a:p>
        </p:txBody>
      </p:sp>
      <p:pic>
        <p:nvPicPr>
          <p:cNvPr id="8" name="Image 1" descr="s_v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3657600" cy="2057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80560" y="1371600"/>
            <a:ext cx="3657600" cy="2057400"/>
          </a:xfrm>
          <a:prstGeom prst="rect">
            <a:avLst/>
          </a:prstGeom>
          <a:ln w="12700">
            <a:solidFill>
              <a:srgbClr val="D8D2C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0560" y="3474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  /products/</a:t>
            </a:r>
            <a:endParaRPr lang="en-US" sz="1300" dirty="0"/>
          </a:p>
        </p:txBody>
      </p:sp>
      <p:pic>
        <p:nvPicPr>
          <p:cNvPr id="11" name="Image 2" descr="s_v_ab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3657600" cy="2057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3886200"/>
            <a:ext cx="3657600" cy="2057400"/>
          </a:xfrm>
          <a:prstGeom prst="rect">
            <a:avLst/>
          </a:prstGeom>
          <a:ln w="12700">
            <a:solidFill>
              <a:srgbClr val="D8D2C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 /about/</a:t>
            </a:r>
            <a:endParaRPr lang="en-US" sz="1300" dirty="0"/>
          </a:p>
        </p:txBody>
      </p:sp>
      <p:pic>
        <p:nvPicPr>
          <p:cNvPr id="14" name="Image 3" descr="s_v_cont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86200"/>
            <a:ext cx="3657600" cy="20574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480560" y="3886200"/>
            <a:ext cx="3657600" cy="2057400"/>
          </a:xfrm>
          <a:prstGeom prst="rect">
            <a:avLst/>
          </a:prstGeom>
          <a:ln w="12700">
            <a:solidFill>
              <a:srgbClr val="D8D2CB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480560" y="5989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  /contact/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412480" y="1371600"/>
            <a:ext cx="3227832" cy="489204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686800" y="1600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686800" y="2103120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the server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Products, click Buy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Cart, place the order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 the contact 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saved data in /admin/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8686800" y="5074920"/>
            <a:ext cx="2743200" cy="960120"/>
          </a:xfrm>
          <a:prstGeom prst="rect">
            <a:avLst/>
          </a:prstGeom>
          <a:solidFill>
            <a:srgbClr val="2E211A"/>
          </a:solidFill>
          <a:ln w="12700">
            <a:solidFill>
              <a:srgbClr val="2E211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823960" y="5074920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manage.py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runserver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(ER Diagram)</a:t>
            </a:r>
            <a:endParaRPr lang="en-US" sz="3200" dirty="0"/>
          </a:p>
        </p:txBody>
      </p:sp>
      <p:pic>
        <p:nvPicPr>
          <p:cNvPr id="7" name="Image 0" descr="/home/claude/d/er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4690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1463040"/>
            <a:ext cx="3867912" cy="4690872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691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tables in SQLite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2402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1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25146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Catalogue with price and image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0175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1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ContactMessage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2918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from the form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794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1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4069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details and total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45720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21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OrderItem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8463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 in each order, with quantity and price at purchase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53492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7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Order has many OrderItems. Each OrderItem points to one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and Order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621792"/>
            <a:ext cx="1216152" cy="365760"/>
          </a:xfrm>
          <a:prstGeom prst="roundRect">
            <a:avLst>
              <a:gd name="adj" fmla="val 50000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62179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5E7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920240" cy="21031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920240"/>
            <a:ext cx="640080" cy="64008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0802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743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1089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clicks Buy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0" y="2788920"/>
            <a:ext cx="3657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34640" y="1737360"/>
            <a:ext cx="1920240" cy="21031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920240"/>
            <a:ext cx="640080" cy="64008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20802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34640" y="2743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request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26080" y="31089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with a CSRF token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754880" y="2788920"/>
            <a:ext cx="3657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120640" y="1737360"/>
            <a:ext cx="1920240" cy="21031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60720" y="1920240"/>
            <a:ext cx="640080" cy="64008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208026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20640" y="2743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cart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212080" y="31089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id and quantity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040880" y="2788920"/>
            <a:ext cx="3657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406640" y="1737360"/>
            <a:ext cx="1920240" cy="21031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46720" y="1920240"/>
            <a:ext cx="640080" cy="64008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0" y="208026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06640" y="2743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page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498080" y="31089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Totals and offer check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9326880" y="2788920"/>
            <a:ext cx="3657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9692640" y="1737360"/>
            <a:ext cx="1920240" cy="210312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0332720" y="1920240"/>
            <a:ext cx="640080" cy="64008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740" y="208026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692640" y="27432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order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784080" y="31089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+ OrderItems saved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5E7F6E"/>
          </a:solidFill>
          <a:ln w="12700">
            <a:solidFill>
              <a:srgbClr val="5E7F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Cart, Order and Admin Screenshots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621792"/>
            <a:ext cx="1216152" cy="365760"/>
          </a:xfrm>
          <a:prstGeom prst="roundRect">
            <a:avLst>
              <a:gd name="adj" fmla="val 50000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621792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5E7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</a:t>
            </a:r>
            <a:endParaRPr lang="en-US" sz="1300" dirty="0"/>
          </a:p>
        </p:txBody>
      </p:sp>
      <p:pic>
        <p:nvPicPr>
          <p:cNvPr id="7" name="Image 0" descr="s_h_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520440" cy="24803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520440" cy="2480310"/>
          </a:xfrm>
          <a:prstGeom prst="rect">
            <a:avLst/>
          </a:prstGeom>
          <a:ln w="12700">
            <a:solidFill>
              <a:srgbClr val="D8D2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08051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 with offer applied</a:t>
            </a:r>
            <a:endParaRPr lang="en-US" sz="1300" dirty="0"/>
          </a:p>
        </p:txBody>
      </p:sp>
      <p:pic>
        <p:nvPicPr>
          <p:cNvPr id="10" name="Image 1" descr="s_h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554480"/>
            <a:ext cx="3520440" cy="248031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34256" y="1554480"/>
            <a:ext cx="3520440" cy="2480310"/>
          </a:xfrm>
          <a:prstGeom prst="rect">
            <a:avLst/>
          </a:prstGeom>
          <a:ln w="12700">
            <a:solidFill>
              <a:srgbClr val="D8D2C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334256" y="408051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confirmation</a:t>
            </a:r>
            <a:endParaRPr lang="en-US" sz="1300" dirty="0"/>
          </a:p>
        </p:txBody>
      </p:sp>
      <p:pic>
        <p:nvPicPr>
          <p:cNvPr id="13" name="Image 2" descr="s_h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554480"/>
            <a:ext cx="3520440" cy="248031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19872" y="1554480"/>
            <a:ext cx="3520440" cy="2480310"/>
          </a:xfrm>
          <a:prstGeom prst="rect">
            <a:avLst/>
          </a:prstGeom>
          <a:ln w="12700">
            <a:solidFill>
              <a:srgbClr val="D8D2C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119872" y="408051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stored, seen in admin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order placed by the customer appears in the Django admin with its items, so the owner can see who ordered what.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Solutions Implemented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325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7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029200" cy="100584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83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button did nothing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130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was only a styled button with no logic behind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15000" y="2194560"/>
            <a:ext cx="8229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675120" y="1691640"/>
            <a:ext cx="4965192" cy="1005840"/>
          </a:xfrm>
          <a:prstGeom prst="rect">
            <a:avLst/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78308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Session-based cart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13055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views and URLs; Buy is now a POST form with CSRF protection.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834640"/>
            <a:ext cx="5029200" cy="100584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0040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08760" y="2926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uploaded images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1508760" y="3273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Admin-uploaded product images need their own storage.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715000" y="3337560"/>
            <a:ext cx="8229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675120" y="2834640"/>
            <a:ext cx="4965192" cy="1005840"/>
          </a:xfrm>
          <a:prstGeom prst="rect">
            <a:avLst/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03720" y="292608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ImageField with media settings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903720" y="327355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Installed Pillow, set MEDIA_ROOT and MEDIA_URL, added a seed command.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3977640"/>
            <a:ext cx="5029200" cy="100584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4340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08760" y="4069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page layout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1508760" y="4416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page repeated the same header and links.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715000" y="4480560"/>
            <a:ext cx="8229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6675120" y="3977640"/>
            <a:ext cx="4965192" cy="1005840"/>
          </a:xfrm>
          <a:prstGeom prst="rect">
            <a:avLst/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903720" y="406908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base template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6903720" y="441655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base.html holds the navbar and footer; pages extend it.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548640" y="5120640"/>
            <a:ext cx="5029200" cy="1005840"/>
          </a:xfrm>
          <a:prstGeom prst="rect">
            <a:avLst/>
          </a:prstGeom>
          <a:solidFill>
            <a:srgbClr val="F4F1EE"/>
          </a:solidFill>
          <a:ln w="12700">
            <a:solidFill>
              <a:srgbClr val="F4F1EE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86400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508760" y="5212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not portable</a:t>
            </a:r>
            <a:endParaRPr lang="en-US" sz="1700" dirty="0"/>
          </a:p>
        </p:txBody>
      </p:sp>
      <p:sp>
        <p:nvSpPr>
          <p:cNvPr id="38" name="Text 32"/>
          <p:cNvSpPr txBox="1"/>
          <p:nvPr/>
        </p:nvSpPr>
        <p:spPr>
          <a:xfrm>
            <a:off x="1508760" y="5559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2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bundled virtual environment pointed to the original machine.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5715000" y="5623560"/>
            <a:ext cx="822960" cy="0"/>
          </a:xfrm>
          <a:prstGeom prst="line">
            <a:avLst/>
          </a:prstGeom>
          <a:noFill/>
          <a:ln w="31750">
            <a:solidFill>
              <a:srgbClr val="B8752F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6675120" y="5120640"/>
            <a:ext cx="4965192" cy="1005840"/>
          </a:xfrm>
          <a:prstGeom prst="rect">
            <a:avLst/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903720" y="521208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environment per machine</a:t>
            </a:r>
            <a:endParaRPr lang="en-US" sz="1700" dirty="0"/>
          </a:p>
        </p:txBody>
      </p:sp>
      <p:sp>
        <p:nvSpPr>
          <p:cNvPr id="42" name="Text 36"/>
          <p:cNvSpPr txBox="1"/>
          <p:nvPr/>
        </p:nvSpPr>
        <p:spPr>
          <a:xfrm>
            <a:off x="6903720" y="555955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new venv, then pip install django pillow.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and Plan for Completion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225" y="1554480"/>
            <a:ext cx="3175000" cy="3840480"/>
          </a:xfrm>
          <a:prstGeom prst="rect">
            <a:avLst/>
          </a:prstGeom>
          <a:solidFill>
            <a:srgbClr val="3D2D24"/>
          </a:solidFill>
          <a:ln w="12700">
            <a:solidFill>
              <a:srgbClr val="3D2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" y="1680210"/>
            <a:ext cx="594360" cy="59436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80594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1860" y="18059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6140" y="2057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73685" y="260223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registration and login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orders to users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history page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27095" y="1554480"/>
            <a:ext cx="3014980" cy="3840480"/>
          </a:xfrm>
          <a:prstGeom prst="rect">
            <a:avLst/>
          </a:prstGeom>
          <a:solidFill>
            <a:srgbClr val="3D2D24"/>
          </a:solidFill>
          <a:ln w="12700">
            <a:solidFill>
              <a:srgbClr val="3D2D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05911" y="1680210"/>
            <a:ext cx="594360" cy="59436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01" y="181737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64101" y="18059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318381" y="2057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and tracking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3605911" y="260223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payment gateway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status updates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confirmation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623685" y="1554480"/>
            <a:ext cx="2762885" cy="3840480"/>
          </a:xfrm>
          <a:prstGeom prst="rect">
            <a:avLst/>
          </a:prstGeom>
          <a:solidFill>
            <a:srgbClr val="3D2D24"/>
          </a:solidFill>
          <a:ln w="12700">
            <a:solidFill>
              <a:srgbClr val="3D2D2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65417" y="1680210"/>
            <a:ext cx="594360" cy="59436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007" y="1805940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462012" y="181737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416292" y="2057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" alt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receipt</a:t>
            </a:r>
            <a:endParaRPr lang="" altLang="en-US" sz="19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6776212" y="242316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" altLang="en-US" sz="1600" dirty="0">
                <a:solidFill>
                  <a:schemeClr val="bg1"/>
                </a:solidFill>
              </a:rPr>
              <a:t>Automatic Receipt </a:t>
            </a:r>
            <a:endParaRPr lang="" altLang="en-US" sz="1600" dirty="0">
              <a:solidFill>
                <a:schemeClr val="bg1"/>
              </a:solidFill>
            </a:endParaRPr>
          </a:p>
          <a:p>
            <a:pPr indent="0">
              <a:spcAft>
                <a:spcPts val="1000"/>
              </a:spcAft>
              <a:buSzPct val="100000"/>
              <a:buNone/>
            </a:pPr>
            <a:r>
              <a:rPr lang="" altLang="en-US" sz="1600" dirty="0">
                <a:solidFill>
                  <a:schemeClr val="bg1"/>
                </a:solidFill>
              </a:rPr>
              <a:t>Generation will send to the </a:t>
            </a:r>
            <a:endParaRPr lang="" altLang="en-US" sz="1600" dirty="0">
              <a:solidFill>
                <a:schemeClr val="bg1"/>
              </a:solidFill>
            </a:endParaRPr>
          </a:p>
          <a:p>
            <a:pPr indent="0">
              <a:spcAft>
                <a:spcPts val="1000"/>
              </a:spcAft>
              <a:buSzPct val="100000"/>
              <a:buNone/>
            </a:pPr>
            <a:r>
              <a:rPr lang="" altLang="en-US" sz="1600" dirty="0">
                <a:solidFill>
                  <a:schemeClr val="bg1"/>
                </a:solidFill>
              </a:rPr>
              <a:t>customer</a:t>
            </a:r>
            <a:endParaRPr lang="en-US" sz="1600" dirty="0">
              <a:solidFill>
                <a:schemeClr val="bg1"/>
              </a:solidFill>
            </a:endParaRPr>
          </a:p>
          <a:p>
            <a:pPr indent="0">
              <a:spcAft>
                <a:spcPts val="1000"/>
              </a:spcAft>
              <a:buSzPct val="100000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a secure, deployed store where customers can register, order and pay online.</a:t>
            </a:r>
            <a:endParaRPr lang="en-US" sz="1700" dirty="0"/>
          </a:p>
        </p:txBody>
      </p:sp>
      <p:sp>
        <p:nvSpPr>
          <p:cNvPr id="26" name="Shape 13"/>
          <p:cNvSpPr/>
          <p:nvPr/>
        </p:nvSpPr>
        <p:spPr>
          <a:xfrm>
            <a:off x="9563735" y="1579880"/>
            <a:ext cx="2581275" cy="3790315"/>
          </a:xfrm>
          <a:prstGeom prst="rect">
            <a:avLst/>
          </a:prstGeom>
          <a:solidFill>
            <a:srgbClr val="3D2D24"/>
          </a:solidFill>
          <a:ln w="12700">
            <a:solidFill>
              <a:srgbClr val="3D2D24"/>
            </a:solidFill>
            <a:prstDash val="solid"/>
          </a:ln>
        </p:spPr>
      </p:sp>
      <p:sp>
        <p:nvSpPr>
          <p:cNvPr id="27" name="Shape 14"/>
          <p:cNvSpPr/>
          <p:nvPr/>
        </p:nvSpPr>
        <p:spPr>
          <a:xfrm>
            <a:off x="9751695" y="1663065"/>
            <a:ext cx="608330" cy="586740"/>
          </a:xfrm>
          <a:prstGeom prst="ellipse">
            <a:avLst/>
          </a:prstGeom>
          <a:solidFill>
            <a:srgbClr val="B8752F"/>
          </a:solidFill>
          <a:ln w="12700">
            <a:solidFill>
              <a:srgbClr val="B8752F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270" y="1774190"/>
            <a:ext cx="304165" cy="30416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0407650" y="1795780"/>
            <a:ext cx="2340610" cy="27114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200" b="1" kern="0" spc="3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</a:t>
            </a:r>
            <a:r>
              <a:rPr lang="" altLang="en-US" sz="1200" b="1" kern="0" spc="300" dirty="0">
                <a:solidFill>
                  <a:srgbClr val="B875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" altLang="en-US" sz="1200" b="1" kern="0" spc="300" dirty="0">
              <a:solidFill>
                <a:srgbClr val="B875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Text 16"/>
          <p:cNvSpPr txBox="1"/>
          <p:nvPr/>
        </p:nvSpPr>
        <p:spPr>
          <a:xfrm>
            <a:off x="10360025" y="2037080"/>
            <a:ext cx="2433955" cy="36131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release</a:t>
            </a:r>
            <a:endParaRPr lang="en-US" sz="1900" dirty="0"/>
          </a:p>
        </p:txBody>
      </p:sp>
      <p:sp>
        <p:nvSpPr>
          <p:cNvPr id="31" name="Text 17"/>
          <p:cNvSpPr txBox="1"/>
          <p:nvPr/>
        </p:nvSpPr>
        <p:spPr>
          <a:xfrm>
            <a:off x="9704705" y="2426970"/>
            <a:ext cx="3089275" cy="216598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tests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to a hosting server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DF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report and demo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4155</Words>
  <Application>WPS Presentation</Application>
  <PresentationFormat>On-screen Show (16:9)</PresentationFormat>
  <Paragraphs>331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PakType Naskh Basic</vt:lpstr>
      <vt:lpstr>Cambria</vt:lpstr>
      <vt:lpstr>Cambria</vt:lpstr>
      <vt:lpstr>Courier New</vt:lpstr>
      <vt:lpstr>Courier New</vt:lpstr>
      <vt:lpstr>Courier New</vt:lpstr>
      <vt:lpstr>微软雅黑</vt:lpstr>
      <vt:lpstr>Arial Unicode MS</vt:lpstr>
      <vt:lpstr>Droid Sans Fallback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Furniture Shop – Project Review</dc:title>
  <dc:creator>PptxGenJS</dc:creator>
  <dc:subject>PptxGenJS Presentation</dc:subject>
  <cp:lastModifiedBy>Vaibhav</cp:lastModifiedBy>
  <cp:revision>2</cp:revision>
  <dcterms:created xsi:type="dcterms:W3CDTF">2026-09-30T05:09:38Z</dcterms:created>
  <dcterms:modified xsi:type="dcterms:W3CDTF">2026-09-30T05:09:38Z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