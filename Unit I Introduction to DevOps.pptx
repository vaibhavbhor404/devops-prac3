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Lst>
  <p:notesMasterIdLst>
    <p:notesMasterId r:id="rId43"/>
  </p:notesMasterIdLst>
  <p:sldIdLst>
    <p:sldId id="259" r:id="rId2"/>
    <p:sldId id="272" r:id="rId3"/>
    <p:sldId id="260" r:id="rId4"/>
    <p:sldId id="261" r:id="rId5"/>
    <p:sldId id="262" r:id="rId6"/>
    <p:sldId id="263" r:id="rId7"/>
    <p:sldId id="264" r:id="rId8"/>
    <p:sldId id="265" r:id="rId9"/>
    <p:sldId id="266" r:id="rId10"/>
    <p:sldId id="267" r:id="rId11"/>
    <p:sldId id="268" r:id="rId12"/>
    <p:sldId id="269" r:id="rId13"/>
    <p:sldId id="270" r:id="rId14"/>
    <p:sldId id="271"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7" r:id="rId28"/>
    <p:sldId id="289" r:id="rId29"/>
    <p:sldId id="292" r:id="rId30"/>
    <p:sldId id="293" r:id="rId31"/>
    <p:sldId id="288" r:id="rId32"/>
    <p:sldId id="294" r:id="rId33"/>
    <p:sldId id="291" r:id="rId34"/>
    <p:sldId id="286" r:id="rId35"/>
    <p:sldId id="285" r:id="rId36"/>
    <p:sldId id="296" r:id="rId37"/>
    <p:sldId id="297" r:id="rId38"/>
    <p:sldId id="298" r:id="rId39"/>
    <p:sldId id="299" r:id="rId40"/>
    <p:sldId id="300" r:id="rId41"/>
    <p:sldId id="302"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A147"/>
    <a:srgbClr val="B54C2D"/>
    <a:srgbClr val="B66952"/>
    <a:srgbClr val="B56D45"/>
    <a:srgbClr val="DF985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7" autoAdjust="0"/>
    <p:restoredTop sz="94660"/>
  </p:normalViewPr>
  <p:slideViewPr>
    <p:cSldViewPr snapToGrid="0">
      <p:cViewPr varScale="1">
        <p:scale>
          <a:sx n="69" d="100"/>
          <a:sy n="69" d="100"/>
        </p:scale>
        <p:origin x="78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20B8BD6-5477-45AC-8003-5A0C9BD138C2}" type="datetimeFigureOut">
              <a:rPr lang="en-US" smtClean="0"/>
              <a:t>7/30/2026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7D5C94-64B5-48FC-87B4-326AA69C5C23}"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Real-Life Example</a:t>
            </a:r>
          </a:p>
          <a:p>
            <a:r>
              <a:rPr lang="en-US" dirty="0" smtClean="0"/>
              <a:t>Consider an online shopping website such as Amazon.</a:t>
            </a:r>
          </a:p>
          <a:p>
            <a:r>
              <a:rPr lang="en-US" dirty="0" smtClean="0"/>
              <a:t>Customers expect new offers, discounts, and payment features regularly. If updates take several months, competitors may attract those customers. DevOps enables companies to release improvements quickly without affecting existing users.</a:t>
            </a:r>
          </a:p>
          <a:p>
            <a:endParaRPr lang="en-US" dirty="0"/>
          </a:p>
        </p:txBody>
      </p:sp>
      <p:sp>
        <p:nvSpPr>
          <p:cNvPr id="4" name="Slide Number Placeholder 3"/>
          <p:cNvSpPr>
            <a:spLocks noGrp="1"/>
          </p:cNvSpPr>
          <p:nvPr>
            <p:ph type="sldNum" sz="quarter" idx="10"/>
          </p:nvPr>
        </p:nvSpPr>
        <p:spPr/>
        <p:txBody>
          <a:bodyPr/>
          <a:lstStyle/>
          <a:p>
            <a:fld id="{817D5C94-64B5-48FC-87B4-326AA69C5C23}" type="slidenum">
              <a:rPr lang="en-US" smtClean="0"/>
              <a:t>5</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7/30/2026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7/30/2026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7/30/2026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7/30/2026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9343D99-809A-49C0-96E5-4250D0B498EE}" type="datetime1">
              <a:rPr lang="en-US" smtClean="0"/>
              <a:t>7/30/2026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7/30/2026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7/30/2026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smtClean="0"/>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7/30/2026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7/30/2026</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7/30/2026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7/30/2026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7/30/2026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7/30/2026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7/30/2026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7/30/2026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17E833E-1B6D-415F-AD29-75AE8C43BD0D}" type="datetime1">
              <a:rPr lang="en-US" smtClean="0"/>
              <a:t>7/30/2026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452596F-08A7-4B70-989A-F2B1CF31E66B}" type="datetime1">
              <a:rPr lang="en-US" smtClean="0"/>
              <a:t>7/30/2026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7/30/2026</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lvl1pPr algn="ctr" defTabSz="457200" rtl="0" eaLnBrk="1" latinLnBrk="0" hangingPunct="1">
        <a:lnSpc>
          <a:spcPct val="90000"/>
        </a:lnSpc>
        <a:spcBef>
          <a:spcPct val="0"/>
        </a:spcBef>
        <a:buNone/>
        <a:defRPr sz="4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panose="020B0603020202020204"/>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70" algn="l" defTabSz="457200" rtl="0" eaLnBrk="1" latinLnBrk="0" hangingPunct="1">
        <a:lnSpc>
          <a:spcPct val="110000"/>
        </a:lnSpc>
        <a:spcBef>
          <a:spcPct val="20000"/>
        </a:spcBef>
        <a:spcAft>
          <a:spcPts val="600"/>
        </a:spcAft>
        <a:buClr>
          <a:schemeClr val="tx2"/>
        </a:buClr>
        <a:buSzPct val="70000"/>
        <a:buFont typeface="Wingdings 2" panose="05020102010507070707"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90" indent="-269875" algn="l" defTabSz="457200" rtl="0" eaLnBrk="1" latinLnBrk="0" hangingPunct="1">
        <a:spcBef>
          <a:spcPct val="20000"/>
        </a:spcBef>
        <a:spcAft>
          <a:spcPts val="600"/>
        </a:spcAft>
        <a:buClr>
          <a:schemeClr val="tx2"/>
        </a:buClr>
        <a:buSzPct val="70000"/>
        <a:buFont typeface="Wingdings 2" panose="05020102010507070707"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160" indent="-215900" algn="l" defTabSz="457200" rtl="0" eaLnBrk="1" latinLnBrk="0" hangingPunct="1">
        <a:spcBef>
          <a:spcPct val="20000"/>
        </a:spcBef>
        <a:spcAft>
          <a:spcPts val="600"/>
        </a:spcAft>
        <a:buClr>
          <a:schemeClr val="tx2"/>
        </a:buClr>
        <a:buSzPct val="70000"/>
        <a:buFont typeface="Wingdings 2" panose="05020102010507070707"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205" indent="-215900" algn="l" defTabSz="457200" rtl="0" eaLnBrk="1" latinLnBrk="0" hangingPunct="1">
        <a:spcBef>
          <a:spcPct val="20000"/>
        </a:spcBef>
        <a:spcAft>
          <a:spcPts val="600"/>
        </a:spcAft>
        <a:buClr>
          <a:schemeClr val="tx2"/>
        </a:buClr>
        <a:buSzPct val="70000"/>
        <a:buFont typeface="Wingdings 2" panose="05020102010507070707"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3860" indent="-215900" algn="l" defTabSz="457200" rtl="0" eaLnBrk="1" latinLnBrk="0" hangingPunct="1">
        <a:spcBef>
          <a:spcPct val="20000"/>
        </a:spcBef>
        <a:spcAft>
          <a:spcPts val="600"/>
        </a:spcAft>
        <a:buClr>
          <a:schemeClr val="tx2"/>
        </a:buClr>
        <a:buSzPct val="70000"/>
        <a:buFont typeface="Wingdings 2" panose="05020102010507070707"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855" indent="-228600" algn="l" defTabSz="457200" rtl="0" eaLnBrk="1" latinLnBrk="0" hangingPunct="1">
        <a:spcBef>
          <a:spcPct val="20000"/>
        </a:spcBef>
        <a:spcAft>
          <a:spcPts val="600"/>
        </a:spcAft>
        <a:buClr>
          <a:schemeClr val="tx2"/>
        </a:buClr>
        <a:buSzPct val="70000"/>
        <a:buFont typeface="Wingdings 2" panose="05020102010507070707"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570" indent="-228600" algn="l" defTabSz="457200" rtl="0" eaLnBrk="1" latinLnBrk="0" hangingPunct="1">
        <a:spcBef>
          <a:spcPct val="20000"/>
        </a:spcBef>
        <a:spcAft>
          <a:spcPts val="600"/>
        </a:spcAft>
        <a:buClr>
          <a:schemeClr val="tx2"/>
        </a:buClr>
        <a:buSzPct val="70000"/>
        <a:buFont typeface="Wingdings 2" panose="05020102010507070707"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8920" indent="-228600" algn="l" defTabSz="457200" rtl="0" eaLnBrk="1" latinLnBrk="0" hangingPunct="1">
        <a:spcBef>
          <a:spcPct val="20000"/>
        </a:spcBef>
        <a:spcAft>
          <a:spcPts val="600"/>
        </a:spcAft>
        <a:buClr>
          <a:schemeClr val="tx2"/>
        </a:buClr>
        <a:buSzPct val="70000"/>
        <a:buFont typeface="Wingdings 2" panose="05020102010507070707"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420" indent="-228600" algn="l" defTabSz="457200" rtl="0" eaLnBrk="1" latinLnBrk="0" hangingPunct="1">
        <a:spcBef>
          <a:spcPct val="20000"/>
        </a:spcBef>
        <a:spcAft>
          <a:spcPts val="600"/>
        </a:spcAft>
        <a:buClr>
          <a:schemeClr val="tx2"/>
        </a:buClr>
        <a:buSzPct val="70000"/>
        <a:buFont typeface="Wingdings 2" panose="05020102010507070707"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fillRect/>
          </a:stretch>
        </a:blipFill>
        <a:effectLst/>
      </p:bgPr>
    </p:bg>
    <p:spTree>
      <p:nvGrpSpPr>
        <p:cNvPr id="1" name=""/>
        <p:cNvGrpSpPr/>
        <p:nvPr/>
      </p:nvGrpSpPr>
      <p:grpSpPr>
        <a:xfrm>
          <a:off x="0" y="0"/>
          <a:ext cx="0" cy="0"/>
          <a:chOff x="0" y="0"/>
          <a:chExt cx="0" cy="0"/>
        </a:xfrm>
      </p:grpSpPr>
      <p:pic>
        <p:nvPicPr>
          <p:cNvPr id="5" name="Picture 4" descr="A picture containing cup, coffee, food, beverage&#10;&#10;Description automatically generated"/>
          <p:cNvPicPr>
            <a:picLocks noChangeAspect="1"/>
          </p:cNvPicPr>
          <p:nvPr/>
        </p:nvPicPr>
        <p:blipFill rotWithShape="1">
          <a:blip r:embed="rId3">
            <a:alphaModFix amt="35000"/>
            <a:extLst>
              <a:ext uri="{28A0092B-C50C-407E-A947-70E740481C1C}">
                <a14:useLocalDpi xmlns:a14="http://schemas.microsoft.com/office/drawing/2010/main" val="0"/>
              </a:ext>
            </a:extLst>
          </a:blip>
          <a:srcRect/>
          <a:stretch>
            <a:fillRect/>
          </a:stretch>
        </p:blipFill>
        <p:spPr>
          <a:xfrm>
            <a:off x="20" y="10"/>
            <a:ext cx="12191980" cy="6857990"/>
          </a:xfrm>
          <a:prstGeom prst="rect">
            <a:avLst/>
          </a:prstGeom>
        </p:spPr>
      </p:pic>
      <p:sp>
        <p:nvSpPr>
          <p:cNvPr id="2" name="Title 1"/>
          <p:cNvSpPr>
            <a:spLocks noGrp="1"/>
          </p:cNvSpPr>
          <p:nvPr>
            <p:ph type="ctrTitle"/>
          </p:nvPr>
        </p:nvSpPr>
        <p:spPr>
          <a:xfrm>
            <a:off x="1370693" y="1087120"/>
            <a:ext cx="9440034" cy="2648381"/>
          </a:xfrm>
        </p:spPr>
        <p:txBody>
          <a:bodyPr>
            <a:normAutofit/>
          </a:bodyPr>
          <a:lstStyle/>
          <a:p>
            <a:r>
              <a:rPr lang="en-US" b="1" dirty="0">
                <a:solidFill>
                  <a:schemeClr val="tx1"/>
                </a:solidFill>
                <a:effectLst/>
              </a:rPr>
              <a:t>Introduction to DevOps </a:t>
            </a:r>
            <a:endParaRPr lang="en-US" sz="7200" dirty="0">
              <a:solidFill>
                <a:schemeClr val="tx1"/>
              </a:solidFill>
            </a:endParaRPr>
          </a:p>
        </p:txBody>
      </p:sp>
      <p:sp>
        <p:nvSpPr>
          <p:cNvPr id="3" name="Subtitle 2"/>
          <p:cNvSpPr>
            <a:spLocks noGrp="1"/>
          </p:cNvSpPr>
          <p:nvPr>
            <p:ph type="subTitle" idx="1"/>
          </p:nvPr>
        </p:nvSpPr>
        <p:spPr>
          <a:xfrm>
            <a:off x="1370693" y="3910649"/>
            <a:ext cx="9440034" cy="1397951"/>
          </a:xfrm>
        </p:spPr>
        <p:txBody>
          <a:bodyPr>
            <a:normAutofit/>
          </a:bodyPr>
          <a:lstStyle/>
          <a:p>
            <a:r>
              <a:rPr lang="en-US" sz="2800" dirty="0" smtClean="0">
                <a:latin typeface="Times New Roman" panose="02020603050405020304" pitchFamily="18" charset="0"/>
                <a:cs typeface="Times New Roman" panose="02020603050405020304" pitchFamily="18" charset="0"/>
              </a:rPr>
              <a:t>By Ms. </a:t>
            </a:r>
            <a:r>
              <a:rPr lang="en-US" sz="2800" dirty="0" err="1" smtClean="0">
                <a:latin typeface="Times New Roman" panose="02020603050405020304" pitchFamily="18" charset="0"/>
                <a:cs typeface="Times New Roman" panose="02020603050405020304" pitchFamily="18" charset="0"/>
              </a:rPr>
              <a:t>Megha</a:t>
            </a:r>
            <a:r>
              <a:rPr lang="en-US" sz="2800" dirty="0" smtClean="0">
                <a:latin typeface="Times New Roman" panose="02020603050405020304" pitchFamily="18" charset="0"/>
                <a:cs typeface="Times New Roman" panose="02020603050405020304" pitchFamily="18" charset="0"/>
              </a:rPr>
              <a:t> </a:t>
            </a:r>
            <a:r>
              <a:rPr lang="en-US" sz="2800" dirty="0" err="1" smtClean="0">
                <a:latin typeface="Times New Roman" panose="02020603050405020304" pitchFamily="18" charset="0"/>
                <a:cs typeface="Times New Roman" panose="02020603050405020304" pitchFamily="18" charset="0"/>
              </a:rPr>
              <a:t>Ughade</a:t>
            </a:r>
            <a:endParaRPr lang="en-US" sz="2800" dirty="0" smtClean="0">
              <a:latin typeface="Times New Roman" panose="02020603050405020304" pitchFamily="18" charset="0"/>
              <a:cs typeface="Times New Roman" panose="02020603050405020304" pitchFamily="18" charset="0"/>
            </a:endParaRPr>
          </a:p>
          <a:p>
            <a:r>
              <a:rPr lang="en-US" sz="2800" dirty="0" smtClean="0">
                <a:latin typeface="Times New Roman" panose="02020603050405020304" pitchFamily="18" charset="0"/>
                <a:cs typeface="Times New Roman" panose="02020603050405020304" pitchFamily="18" charset="0"/>
              </a:rPr>
              <a:t>Class-SYMCA </a:t>
            </a:r>
            <a:r>
              <a:rPr lang="en-US" sz="2800" dirty="0" err="1" smtClean="0">
                <a:latin typeface="Times New Roman" panose="02020603050405020304" pitchFamily="18" charset="0"/>
                <a:cs typeface="Times New Roman" panose="02020603050405020304" pitchFamily="18" charset="0"/>
              </a:rPr>
              <a:t>Sem</a:t>
            </a:r>
            <a:r>
              <a:rPr lang="en-US" sz="2800" dirty="0" smtClean="0">
                <a:latin typeface="Times New Roman" panose="02020603050405020304" pitchFamily="18" charset="0"/>
                <a:cs typeface="Times New Roman" panose="02020603050405020304" pitchFamily="18" charset="0"/>
              </a:rPr>
              <a:t>-III</a:t>
            </a:r>
            <a:endParaRPr lang="en-US" sz="2800" dirty="0">
              <a:latin typeface="Times New Roman" panose="02020603050405020304" pitchFamily="18" charset="0"/>
              <a:cs typeface="Times New Roman" panose="02020603050405020304" pitchFamily="18" charset="0"/>
            </a:endParaRPr>
          </a:p>
        </p:txBody>
      </p:sp>
    </p:spTree>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ym typeface="+mn-ea"/>
              </a:rPr>
              <a:t>What is DevOps?</a:t>
            </a:r>
            <a:endParaRPr lang="en-US"/>
          </a:p>
        </p:txBody>
      </p:sp>
      <p:sp>
        <p:nvSpPr>
          <p:cNvPr id="3" name="Content Placeholder 2"/>
          <p:cNvSpPr>
            <a:spLocks noGrp="1"/>
          </p:cNvSpPr>
          <p:nvPr>
            <p:ph idx="1"/>
          </p:nvPr>
        </p:nvSpPr>
        <p:spPr/>
        <p:txBody>
          <a:bodyPr>
            <a:noAutofit/>
          </a:bodyPr>
          <a:lstStyle/>
          <a:p>
            <a:pPr lvl="0">
              <a:lnSpc>
                <a:spcPct val="100000"/>
              </a:lnSpc>
              <a:spcBef>
                <a:spcPct val="0"/>
              </a:spcBef>
              <a:spcAft>
                <a:spcPct val="35000"/>
              </a:spcAft>
            </a:pPr>
            <a:r>
              <a:rPr lang="en-US" sz="2100" dirty="0" smtClean="0">
                <a:latin typeface="Times New Roman" panose="02020603050405020304" pitchFamily="18" charset="0"/>
                <a:cs typeface="Times New Roman" panose="02020603050405020304" pitchFamily="18" charset="0"/>
                <a:sym typeface="+mn-ea"/>
              </a:rPr>
              <a:t>DevOps is a combination of two words: </a:t>
            </a:r>
            <a:r>
              <a:rPr lang="en-US" sz="2100" b="1" dirty="0" smtClean="0">
                <a:latin typeface="Times New Roman" panose="02020603050405020304" pitchFamily="18" charset="0"/>
                <a:cs typeface="Times New Roman" panose="02020603050405020304" pitchFamily="18" charset="0"/>
                <a:sym typeface="+mn-ea"/>
              </a:rPr>
              <a:t>Development (Dev)</a:t>
            </a:r>
            <a:r>
              <a:rPr lang="en-US" sz="2100" dirty="0" smtClean="0">
                <a:latin typeface="Times New Roman" panose="02020603050405020304" pitchFamily="18" charset="0"/>
                <a:cs typeface="Times New Roman" panose="02020603050405020304" pitchFamily="18" charset="0"/>
                <a:sym typeface="+mn-ea"/>
              </a:rPr>
              <a:t> and </a:t>
            </a:r>
            <a:r>
              <a:rPr lang="en-US" sz="2100" b="1" dirty="0" smtClean="0">
                <a:latin typeface="Times New Roman" panose="02020603050405020304" pitchFamily="18" charset="0"/>
                <a:cs typeface="Times New Roman" panose="02020603050405020304" pitchFamily="18" charset="0"/>
                <a:sym typeface="+mn-ea"/>
              </a:rPr>
              <a:t>Operations (Ops)</a:t>
            </a:r>
            <a:r>
              <a:rPr lang="en-US" sz="2100" dirty="0" smtClean="0">
                <a:latin typeface="Times New Roman" panose="02020603050405020304" pitchFamily="18" charset="0"/>
                <a:cs typeface="Times New Roman" panose="02020603050405020304" pitchFamily="18" charset="0"/>
                <a:sym typeface="+mn-ea"/>
              </a:rPr>
              <a:t>. It is a modern software development approach in which developers and operations engineers work together throughout the entire software development process. Instead of working as separate teams, they collaborate continuously to build, test, deploy, and maintain software efficiently.</a:t>
            </a:r>
            <a:endParaRPr lang="en-US" sz="2100" dirty="0" smtClean="0">
              <a:latin typeface="Times New Roman" panose="02020603050405020304" pitchFamily="18" charset="0"/>
              <a:cs typeface="Times New Roman" panose="02020603050405020304" pitchFamily="18" charset="0"/>
            </a:endParaRPr>
          </a:p>
          <a:p>
            <a:pPr lvl="0">
              <a:lnSpc>
                <a:spcPct val="100000"/>
              </a:lnSpc>
              <a:spcBef>
                <a:spcPct val="0"/>
              </a:spcBef>
              <a:spcAft>
                <a:spcPct val="35000"/>
              </a:spcAft>
            </a:pPr>
            <a:r>
              <a:rPr lang="en-US" sz="2100" dirty="0" smtClean="0">
                <a:latin typeface="Times New Roman" panose="02020603050405020304" pitchFamily="18" charset="0"/>
                <a:cs typeface="Times New Roman" panose="02020603050405020304" pitchFamily="18" charset="0"/>
                <a:sym typeface="+mn-ea"/>
              </a:rPr>
              <a:t>DevOps is not just a tool or technology; it is a </a:t>
            </a:r>
            <a:r>
              <a:rPr lang="en-US" sz="2100" b="1" dirty="0" smtClean="0">
                <a:latin typeface="Times New Roman" panose="02020603050405020304" pitchFamily="18" charset="0"/>
                <a:cs typeface="Times New Roman" panose="02020603050405020304" pitchFamily="18" charset="0"/>
                <a:sym typeface="+mn-ea"/>
              </a:rPr>
              <a:t>culture, a mindset, and a set of practices</a:t>
            </a:r>
            <a:r>
              <a:rPr lang="en-US" sz="2100" dirty="0" smtClean="0">
                <a:latin typeface="Times New Roman" panose="02020603050405020304" pitchFamily="18" charset="0"/>
                <a:cs typeface="Times New Roman" panose="02020603050405020304" pitchFamily="18" charset="0"/>
                <a:sym typeface="+mn-ea"/>
              </a:rPr>
              <a:t> that encourages communication, collaboration, automation, and continuous improvement. Its main goal is to deliver high-quality software to users faster and with fewer errors.</a:t>
            </a:r>
            <a:endParaRPr lang="en-US" sz="2100" dirty="0" smtClean="0">
              <a:latin typeface="Times New Roman" panose="02020603050405020304" pitchFamily="18" charset="0"/>
              <a:cs typeface="Times New Roman" panose="02020603050405020304" pitchFamily="18" charset="0"/>
            </a:endParaRPr>
          </a:p>
          <a:p>
            <a:pPr lvl="0">
              <a:lnSpc>
                <a:spcPct val="100000"/>
              </a:lnSpc>
              <a:spcBef>
                <a:spcPct val="0"/>
              </a:spcBef>
              <a:spcAft>
                <a:spcPct val="35000"/>
              </a:spcAft>
            </a:pPr>
            <a:r>
              <a:rPr lang="en-US" sz="2100" dirty="0" smtClean="0">
                <a:latin typeface="Times New Roman" panose="02020603050405020304" pitchFamily="18" charset="0"/>
                <a:cs typeface="Times New Roman" panose="02020603050405020304" pitchFamily="18" charset="0"/>
                <a:sym typeface="+mn-ea"/>
              </a:rPr>
              <a:t>In traditional software development, developers focused only on writing code, while operations teams were responsible for deploying and maintaining the application. Because these teams worked separately, communication problems often occurred, leading to delays, deployment failures, and customer dissatisfaction. DevOps solves these problems by encouraging both teams to work together from the beginning of the project.</a:t>
            </a:r>
            <a:endParaRPr lang="en-US" sz="2100" dirty="0">
              <a:latin typeface="Times New Roman" panose="02020603050405020304" pitchFamily="18" charset="0"/>
              <a:cs typeface="Times New Roman" panose="02020603050405020304" pitchFamily="18" charset="0"/>
            </a:endParaRPr>
          </a:p>
          <a:p>
            <a:endParaRPr lang="en-US" sz="2100" dirty="0">
              <a:latin typeface="Times New Roman" panose="02020603050405020304" pitchFamily="18" charset="0"/>
              <a:cs typeface="Times New Roman" panose="02020603050405020304" pitchFamily="18" charset="0"/>
            </a:endParaRPr>
          </a:p>
        </p:txBody>
      </p:sp>
    </p:spTree>
  </p:cSld>
  <p:clrMapOvr>
    <a:masterClrMapping/>
  </p:clrMapOvr>
  <p:transition spd="slow">
    <p:push dir="u"/>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693682"/>
            <a:ext cx="10353762" cy="1324304"/>
          </a:xfrm>
        </p:spPr>
        <p:txBody>
          <a:bodyPr>
            <a:noAutofit/>
          </a:bodyPr>
          <a:lstStyle/>
          <a:p>
            <a:pPr lvl="0" algn="l"/>
            <a:r>
              <a:rPr lang="en-US" sz="1600" dirty="0">
                <a:latin typeface="Times New Roman" panose="02020603050405020304" pitchFamily="18" charset="0"/>
                <a:cs typeface="Times New Roman" panose="02020603050405020304" pitchFamily="18" charset="0"/>
              </a:rPr>
              <a:t/>
            </a:r>
            <a:br>
              <a:rPr lang="en-US" sz="1600" dirty="0">
                <a:latin typeface="Times New Roman" panose="02020603050405020304" pitchFamily="18" charset="0"/>
                <a:cs typeface="Times New Roman" panose="02020603050405020304" pitchFamily="18" charset="0"/>
              </a:rPr>
            </a:br>
            <a:endParaRPr lang="en-US" sz="1600" dirty="0"/>
          </a:p>
        </p:txBody>
      </p:sp>
      <p:pic>
        <p:nvPicPr>
          <p:cNvPr id="2050" name="Picture 2" descr="https://images.openai.com/static-rsc-4/BVPFPD2r151RmKXoV0DDoxCmF1uRbOKm1oP3WJ6q6tTkPYuXui-HWpMtK3zqoSPxjWZb0IFfJjFik8wY7M7hFpXRlrojdQvMN0FlQJf5Wtk2eSzUCiwg6bEigzZErON9LfM5-m9VonMzfvge-JinHdM0mrasR-MbDgKW-gEnln_lStqZuXQ5iE_wZ4VGljrE?purpose=fullsize"/>
          <p:cNvPicPr>
            <a:picLocks noGrp="1" noChangeAspect="1" noChangeArrowheads="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231228" y="3114570"/>
            <a:ext cx="6453351" cy="3478044"/>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3"/>
          <a:stretch>
            <a:fillRect/>
          </a:stretch>
        </p:blipFill>
        <p:spPr>
          <a:xfrm>
            <a:off x="6821215" y="3114570"/>
            <a:ext cx="5104578" cy="3478044"/>
          </a:xfrm>
          <a:prstGeom prst="rect">
            <a:avLst/>
          </a:prstGeom>
        </p:spPr>
      </p:pic>
      <p:sp>
        <p:nvSpPr>
          <p:cNvPr id="5" name="TextBox 4"/>
          <p:cNvSpPr txBox="1"/>
          <p:nvPr/>
        </p:nvSpPr>
        <p:spPr>
          <a:xfrm>
            <a:off x="231228" y="252248"/>
            <a:ext cx="11694565" cy="286232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Real-Life Example</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Imagine a restaurant.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chef</a:t>
            </a:r>
            <a:r>
              <a:rPr lang="en-US" dirty="0">
                <a:latin typeface="Times New Roman" panose="02020603050405020304" pitchFamily="18" charset="0"/>
                <a:cs typeface="Times New Roman" panose="02020603050405020304" pitchFamily="18" charset="0"/>
              </a:rPr>
              <a:t> prepares the food.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The </a:t>
            </a:r>
            <a:r>
              <a:rPr lang="en-US" b="1" dirty="0">
                <a:latin typeface="Times New Roman" panose="02020603050405020304" pitchFamily="18" charset="0"/>
                <a:cs typeface="Times New Roman" panose="02020603050405020304" pitchFamily="18" charset="0"/>
              </a:rPr>
              <a:t>delivery person</a:t>
            </a:r>
            <a:r>
              <a:rPr lang="en-US" dirty="0">
                <a:latin typeface="Times New Roman" panose="02020603050405020304" pitchFamily="18" charset="0"/>
                <a:cs typeface="Times New Roman" panose="02020603050405020304" pitchFamily="18" charset="0"/>
              </a:rPr>
              <a:t> delivers it to the customer.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If the chef and delivery person do not communicate properly, the food may be delivered late or become cold. However, if they coordinate effectively, customers receive fresh food on time.</a:t>
            </a:r>
            <a:br>
              <a:rPr lang="en-US" dirty="0">
                <a:latin typeface="Times New Roman" panose="02020603050405020304" pitchFamily="18" charset="0"/>
                <a:cs typeface="Times New Roman" panose="02020603050405020304" pitchFamily="18" charset="0"/>
              </a:rPr>
            </a:br>
            <a:r>
              <a:rPr lang="en-US" b="1" dirty="0">
                <a:latin typeface="Times New Roman" panose="02020603050405020304" pitchFamily="18" charset="0"/>
                <a:cs typeface="Times New Roman" panose="02020603050405020304" pitchFamily="18" charset="0"/>
              </a:rPr>
              <a:t>Similarly, in DevOps</a:t>
            </a:r>
            <a:r>
              <a:rPr lang="en-US" dirty="0">
                <a:latin typeface="Times New Roman" panose="02020603050405020304" pitchFamily="18" charset="0"/>
                <a:cs typeface="Times New Roman" panose="02020603050405020304" pitchFamily="18" charset="0"/>
              </a:rPr>
              <a: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Developers create the software.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Operations teams deploy and maintain it.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By working together, software reaches customers quickly and reliably.</a:t>
            </a:r>
            <a:endParaRPr lang="en-US" dirty="0"/>
          </a:p>
        </p:txBody>
      </p:sp>
    </p:spTree>
  </p:cSld>
  <p:clrMapOvr>
    <a:masterClrMapping/>
  </p:clrMapOvr>
  <p:transition spd="slow">
    <p:push dir="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Why Do We Need DevOps?</a:t>
            </a:r>
          </a:p>
        </p:txBody>
      </p:sp>
      <p:sp>
        <p:nvSpPr>
          <p:cNvPr id="3" name="Content Placeholder 2"/>
          <p:cNvSpPr>
            <a:spLocks noGrp="1"/>
          </p:cNvSpPr>
          <p:nvPr>
            <p:ph idx="1"/>
          </p:nvPr>
        </p:nvSpPr>
        <p:spPr>
          <a:xfrm>
            <a:off x="913795" y="2076450"/>
            <a:ext cx="10353762" cy="4271798"/>
          </a:xfrm>
        </p:spPr>
        <p:txBody>
          <a:bodyPr>
            <a:normAutofit fontScale="92500" lnSpcReduction="10000"/>
          </a:bodyPr>
          <a:lstStyle/>
          <a:p>
            <a:r>
              <a:rPr lang="en-US" dirty="0">
                <a:latin typeface="Times New Roman" panose="02020603050405020304" pitchFamily="18" charset="0"/>
                <a:cs typeface="Times New Roman" panose="02020603050405020304" pitchFamily="18" charset="0"/>
              </a:rPr>
              <a:t>As software applications became larger and more complex, organizations realized that traditional development methods could not meet customer expectations. Customers now expect new features, security updates, and bug fixes quickly. Delivering software every few months is no longer acceptable in today's fast-changing digital world.</a:t>
            </a:r>
          </a:p>
          <a:p>
            <a:r>
              <a:rPr lang="en-US" dirty="0">
                <a:latin typeface="Times New Roman" panose="02020603050405020304" pitchFamily="18" charset="0"/>
                <a:cs typeface="Times New Roman" panose="02020603050405020304" pitchFamily="18" charset="0"/>
              </a:rPr>
              <a:t>Before DevOps, development and operations teams worked independently. Developers completed coding and then handed the software over to the operations team for deployment. If deployment failed, both teams often blamed each other instead of solving the problem together. This caused delays, increased costs, and frustrated customers.</a:t>
            </a:r>
          </a:p>
          <a:p>
            <a:r>
              <a:rPr lang="en-US" dirty="0">
                <a:latin typeface="Times New Roman" panose="02020603050405020304" pitchFamily="18" charset="0"/>
                <a:cs typeface="Times New Roman" panose="02020603050405020304" pitchFamily="18" charset="0"/>
              </a:rPr>
              <a:t>DevOps was introduced to eliminate these communication gaps. It encourages continuous collaboration and uses automation to reduce manual work, making software delivery faster and more reliable.</a:t>
            </a:r>
          </a:p>
          <a:p>
            <a:endParaRPr lang="en-US" dirty="0"/>
          </a:p>
          <a:p>
            <a:pPr marL="36830" indent="0">
              <a:buNone/>
            </a:pPr>
            <a:endParaRPr lang="en-US" dirty="0"/>
          </a:p>
        </p:txBody>
      </p:sp>
    </p:spTree>
  </p:cSld>
  <p:clrMapOvr>
    <a:masterClrMapping/>
  </p:clrMapOvr>
  <p:transition spd="slow">
    <p:push dir="u"/>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US" sz="3600" dirty="0" smtClean="0">
                <a:latin typeface="Times New Roman" panose="02020603050405020304" pitchFamily="18" charset="0"/>
                <a:cs typeface="Times New Roman" panose="02020603050405020304" pitchFamily="18" charset="0"/>
              </a:rPr>
              <a:t>	</a:t>
            </a:r>
            <a:r>
              <a:rPr lang="en-US" sz="2800" b="1" dirty="0" smtClean="0">
                <a:latin typeface="Times New Roman" panose="02020603050405020304" pitchFamily="18" charset="0"/>
                <a:cs typeface="Times New Roman" panose="02020603050405020304" pitchFamily="18" charset="0"/>
              </a:rPr>
              <a:t>Problems </a:t>
            </a:r>
            <a:r>
              <a:rPr lang="en-US" sz="2800" b="1" dirty="0">
                <a:latin typeface="Times New Roman" panose="02020603050405020304" pitchFamily="18" charset="0"/>
                <a:cs typeface="Times New Roman" panose="02020603050405020304" pitchFamily="18" charset="0"/>
              </a:rPr>
              <a:t>Before DevOps</a:t>
            </a:r>
            <a:r>
              <a:rPr lang="en-US" b="1" dirty="0"/>
              <a:t/>
            </a:r>
            <a:br>
              <a:rPr lang="en-US" b="1" dirty="0"/>
            </a:br>
            <a:endParaRPr lang="en-US" b="1" dirty="0"/>
          </a:p>
        </p:txBody>
      </p:sp>
      <p:sp>
        <p:nvSpPr>
          <p:cNvPr id="3" name="Content Placeholder 2"/>
          <p:cNvSpPr>
            <a:spLocks noGrp="1"/>
          </p:cNvSpPr>
          <p:nvPr>
            <p:ph idx="1"/>
          </p:nvPr>
        </p:nvSpPr>
        <p:spPr>
          <a:xfrm>
            <a:off x="777160" y="1145628"/>
            <a:ext cx="10353762" cy="5533697"/>
          </a:xfrm>
        </p:spPr>
        <p:txBody>
          <a:bodyPr>
            <a:normAutofit fontScale="85000" lnSpcReduction="20000"/>
          </a:bodyPr>
          <a:lstStyle/>
          <a:p>
            <a:r>
              <a:rPr lang="en-US" b="1" dirty="0">
                <a:latin typeface="Times New Roman" panose="02020603050405020304" pitchFamily="18" charset="0"/>
                <a:cs typeface="Times New Roman" panose="02020603050405020304" pitchFamily="18" charset="0"/>
              </a:rPr>
              <a:t>Development and Operations teams worked separately</a:t>
            </a:r>
            <a:r>
              <a:rPr lang="en-US" b="1" dirty="0" smtClean="0">
                <a:latin typeface="Times New Roman" panose="02020603050405020304" pitchFamily="18" charset="0"/>
                <a:cs typeface="Times New Roman" panose="02020603050405020304" pitchFamily="18" charset="0"/>
              </a:rPr>
              <a:t>.</a:t>
            </a:r>
          </a:p>
          <a:p>
            <a:r>
              <a:rPr lang="en-US" b="1" dirty="0" smtClean="0">
                <a:latin typeface="Times New Roman" panose="02020603050405020304" pitchFamily="18" charset="0"/>
                <a:cs typeface="Times New Roman" panose="02020603050405020304" pitchFamily="18" charset="0"/>
              </a:rPr>
              <a:t>Software </a:t>
            </a:r>
            <a:r>
              <a:rPr lang="en-US" b="1" dirty="0">
                <a:latin typeface="Times New Roman" panose="02020603050405020304" pitchFamily="18" charset="0"/>
                <a:cs typeface="Times New Roman" panose="02020603050405020304" pitchFamily="18" charset="0"/>
              </a:rPr>
              <a:t>deployment took a long time</a:t>
            </a:r>
            <a:r>
              <a:rPr lang="en-US" b="1" dirty="0" smtClean="0">
                <a:latin typeface="Times New Roman" panose="02020603050405020304" pitchFamily="18" charset="0"/>
                <a:cs typeface="Times New Roman" panose="02020603050405020304" pitchFamily="18" charset="0"/>
              </a:rPr>
              <a:t>.</a:t>
            </a:r>
          </a:p>
          <a:p>
            <a:r>
              <a:rPr lang="en-US" b="1" dirty="0" smtClean="0">
                <a:latin typeface="Times New Roman" panose="02020603050405020304" pitchFamily="18" charset="0"/>
                <a:cs typeface="Times New Roman" panose="02020603050405020304" pitchFamily="18" charset="0"/>
              </a:rPr>
              <a:t>Testing </a:t>
            </a:r>
            <a:r>
              <a:rPr lang="en-US" b="1" dirty="0">
                <a:latin typeface="Times New Roman" panose="02020603050405020304" pitchFamily="18" charset="0"/>
                <a:cs typeface="Times New Roman" panose="02020603050405020304" pitchFamily="18" charset="0"/>
              </a:rPr>
              <a:t>was mostly manual, making it slow and error-prone</a:t>
            </a:r>
            <a:r>
              <a:rPr lang="en-US" b="1" dirty="0" smtClean="0">
                <a:latin typeface="Times New Roman" panose="02020603050405020304" pitchFamily="18" charset="0"/>
                <a:cs typeface="Times New Roman" panose="02020603050405020304" pitchFamily="18" charset="0"/>
              </a:rPr>
              <a:t>.</a:t>
            </a:r>
          </a:p>
          <a:p>
            <a:r>
              <a:rPr lang="en-US" b="1" dirty="0" smtClean="0">
                <a:latin typeface="Times New Roman" panose="02020603050405020304" pitchFamily="18" charset="0"/>
                <a:cs typeface="Times New Roman" panose="02020603050405020304" pitchFamily="18" charset="0"/>
              </a:rPr>
              <a:t>Bugs </a:t>
            </a:r>
            <a:r>
              <a:rPr lang="en-US" b="1" dirty="0">
                <a:latin typeface="Times New Roman" panose="02020603050405020304" pitchFamily="18" charset="0"/>
                <a:cs typeface="Times New Roman" panose="02020603050405020304" pitchFamily="18" charset="0"/>
              </a:rPr>
              <a:t>were often discovered only after deployment</a:t>
            </a:r>
            <a:r>
              <a:rPr lang="en-US" b="1" dirty="0" smtClean="0">
                <a:latin typeface="Times New Roman" panose="02020603050405020304" pitchFamily="18" charset="0"/>
                <a:cs typeface="Times New Roman" panose="02020603050405020304" pitchFamily="18" charset="0"/>
              </a:rPr>
              <a:t>.</a:t>
            </a:r>
          </a:p>
          <a:p>
            <a:r>
              <a:rPr lang="en-US" b="1" dirty="0" smtClean="0">
                <a:latin typeface="Times New Roman" panose="02020603050405020304" pitchFamily="18" charset="0"/>
                <a:cs typeface="Times New Roman" panose="02020603050405020304" pitchFamily="18" charset="0"/>
              </a:rPr>
              <a:t>Customers </a:t>
            </a:r>
            <a:r>
              <a:rPr lang="en-US" b="1" dirty="0">
                <a:latin typeface="Times New Roman" panose="02020603050405020304" pitchFamily="18" charset="0"/>
                <a:cs typeface="Times New Roman" panose="02020603050405020304" pitchFamily="18" charset="0"/>
              </a:rPr>
              <a:t>had to wait a long time for updates</a:t>
            </a:r>
            <a:r>
              <a:rPr lang="en-US" b="1" dirty="0" smtClean="0">
                <a:latin typeface="Times New Roman" panose="02020603050405020304" pitchFamily="18" charset="0"/>
                <a:cs typeface="Times New Roman" panose="02020603050405020304" pitchFamily="18" charset="0"/>
              </a:rPr>
              <a:t>.</a:t>
            </a:r>
          </a:p>
          <a:p>
            <a:pPr lvl="1"/>
            <a:r>
              <a:rPr lang="en-US" sz="2600" b="1" dirty="0" smtClean="0">
                <a:latin typeface="Times New Roman" panose="02020603050405020304" pitchFamily="18" charset="0"/>
                <a:cs typeface="Times New Roman" panose="02020603050405020304" pitchFamily="18" charset="0"/>
              </a:rPr>
              <a:t>Advantages </a:t>
            </a:r>
            <a:r>
              <a:rPr lang="en-US" sz="2600" b="1" dirty="0">
                <a:latin typeface="Times New Roman" panose="02020603050405020304" pitchFamily="18" charset="0"/>
                <a:cs typeface="Times New Roman" panose="02020603050405020304" pitchFamily="18" charset="0"/>
              </a:rPr>
              <a:t>After Adopting </a:t>
            </a:r>
            <a:r>
              <a:rPr lang="en-US" sz="2600" b="1" dirty="0" smtClean="0">
                <a:latin typeface="Times New Roman" panose="02020603050405020304" pitchFamily="18" charset="0"/>
                <a:cs typeface="Times New Roman" panose="02020603050405020304" pitchFamily="18" charset="0"/>
              </a:rPr>
              <a:t>DevOps</a:t>
            </a:r>
          </a:p>
          <a:p>
            <a:r>
              <a:rPr lang="en-US" b="1" dirty="0">
                <a:latin typeface="Times New Roman" panose="02020603050405020304" pitchFamily="18" charset="0"/>
                <a:cs typeface="Times New Roman" panose="02020603050405020304" pitchFamily="18" charset="0"/>
              </a:rPr>
              <a:t>Faster software releases. </a:t>
            </a:r>
          </a:p>
          <a:p>
            <a:r>
              <a:rPr lang="en-US" b="1" dirty="0">
                <a:latin typeface="Times New Roman" panose="02020603050405020304" pitchFamily="18" charset="0"/>
                <a:cs typeface="Times New Roman" panose="02020603050405020304" pitchFamily="18" charset="0"/>
              </a:rPr>
              <a:t>Better communication between teams. </a:t>
            </a:r>
          </a:p>
          <a:p>
            <a:r>
              <a:rPr lang="en-US" b="1" dirty="0">
                <a:latin typeface="Times New Roman" panose="02020603050405020304" pitchFamily="18" charset="0"/>
                <a:cs typeface="Times New Roman" panose="02020603050405020304" pitchFamily="18" charset="0"/>
              </a:rPr>
              <a:t>Automated testing and </a:t>
            </a:r>
            <a:r>
              <a:rPr lang="en-US" b="1" dirty="0" smtClean="0">
                <a:latin typeface="Times New Roman" panose="02020603050405020304" pitchFamily="18" charset="0"/>
                <a:cs typeface="Times New Roman" panose="02020603050405020304" pitchFamily="18" charset="0"/>
              </a:rPr>
              <a:t>deployment.</a:t>
            </a:r>
          </a:p>
          <a:p>
            <a:r>
              <a:rPr lang="en-US" b="1" dirty="0">
                <a:latin typeface="Times New Roman" panose="02020603050405020304" pitchFamily="18" charset="0"/>
                <a:cs typeface="Times New Roman" panose="02020603050405020304" pitchFamily="18" charset="0"/>
              </a:rPr>
              <a:t>Improved software quality. </a:t>
            </a:r>
          </a:p>
          <a:p>
            <a:r>
              <a:rPr lang="en-US" b="1" dirty="0">
                <a:latin typeface="Times New Roman" panose="02020603050405020304" pitchFamily="18" charset="0"/>
                <a:cs typeface="Times New Roman" panose="02020603050405020304" pitchFamily="18" charset="0"/>
              </a:rPr>
              <a:t>Reduced downtime. </a:t>
            </a:r>
          </a:p>
          <a:p>
            <a:r>
              <a:rPr lang="en-US" b="1" dirty="0">
                <a:latin typeface="Times New Roman" panose="02020603050405020304" pitchFamily="18" charset="0"/>
                <a:cs typeface="Times New Roman" panose="02020603050405020304" pitchFamily="18" charset="0"/>
              </a:rPr>
              <a:t>Faster bug fixing. </a:t>
            </a:r>
          </a:p>
          <a:p>
            <a:r>
              <a:rPr lang="en-US" b="1" dirty="0">
                <a:latin typeface="Times New Roman" panose="02020603050405020304" pitchFamily="18" charset="0"/>
                <a:cs typeface="Times New Roman" panose="02020603050405020304" pitchFamily="18" charset="0"/>
              </a:rPr>
              <a:t>Increased customer satisfaction. </a:t>
            </a:r>
            <a:endParaRPr lang="en-US" b="1" dirty="0" smtClean="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smtClean="0">
              <a:latin typeface="Times New Roman" panose="02020603050405020304" pitchFamily="18" charset="0"/>
              <a:cs typeface="Times New Roman" panose="02020603050405020304" pitchFamily="18" charset="0"/>
            </a:endParaRPr>
          </a:p>
        </p:txBody>
      </p:sp>
      <p:sp>
        <p:nvSpPr>
          <p:cNvPr id="9" name="Rectangle 6"/>
          <p:cNvSpPr>
            <a:spLocks noChangeArrowheads="1"/>
          </p:cNvSpPr>
          <p:nvPr/>
        </p:nvSpPr>
        <p:spPr bwMode="auto">
          <a:xfrm>
            <a:off x="0" y="-184666"/>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pPr>
            <a:r>
              <a:rPr kumimoji="0" lang="en-US" altLang="en-US" sz="1800" b="0" i="0" u="none" strike="noStrike" cap="none" normalizeH="0" baseline="0" dirty="0" smtClean="0">
                <a:ln>
                  <a:noFill/>
                </a:ln>
                <a:solidFill>
                  <a:schemeClr val="tx1"/>
                </a:solidFill>
                <a:effectLst/>
                <a:latin typeface="Arial" panose="020B0604020202020204" pitchFamily="34" charset="0"/>
              </a:rPr>
              <a:t> </a:t>
            </a:r>
          </a:p>
        </p:txBody>
      </p:sp>
      <p:pic>
        <p:nvPicPr>
          <p:cNvPr id="4" name="Picture 3"/>
          <p:cNvPicPr>
            <a:picLocks noChangeAspect="1"/>
          </p:cNvPicPr>
          <p:nvPr/>
        </p:nvPicPr>
        <p:blipFill rotWithShape="1">
          <a:blip r:embed="rId3"/>
          <a:srcRect t="5785" b="8815"/>
          <a:stretch>
            <a:fillRect/>
          </a:stretch>
        </p:blipFill>
        <p:spPr>
          <a:xfrm>
            <a:off x="6411951" y="3222446"/>
            <a:ext cx="5454951" cy="3456879"/>
          </a:xfrm>
          <a:prstGeom prst="rect">
            <a:avLst/>
          </a:prstGeom>
        </p:spPr>
      </p:pic>
    </p:spTree>
  </p:cSld>
  <p:clrMapOvr>
    <a:masterClrMapping/>
  </p:clrMapOvr>
  <p:transition spd="slow">
    <p:push dir="u"/>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130098"/>
            <a:ext cx="10353762" cy="1257300"/>
          </a:xfrm>
        </p:spPr>
        <p:txBody>
          <a:bodyPr/>
          <a:lstStyle/>
          <a:p>
            <a:r>
              <a:rPr lang="en-US" dirty="0"/>
              <a:t>Evolution of Software Development</a:t>
            </a:r>
          </a:p>
        </p:txBody>
      </p:sp>
      <p:sp>
        <p:nvSpPr>
          <p:cNvPr id="3" name="Content Placeholder 2"/>
          <p:cNvSpPr>
            <a:spLocks noGrp="1"/>
          </p:cNvSpPr>
          <p:nvPr>
            <p:ph idx="1"/>
          </p:nvPr>
        </p:nvSpPr>
        <p:spPr>
          <a:xfrm>
            <a:off x="913795" y="1271239"/>
            <a:ext cx="10353762" cy="5464098"/>
          </a:xfrm>
        </p:spPr>
        <p:txBody>
          <a:bodyPr>
            <a:normAutofit fontScale="47500" lnSpcReduction="20000"/>
          </a:bodyPr>
          <a:lstStyle/>
          <a:p>
            <a:r>
              <a:rPr lang="en-US" sz="2900" b="1" dirty="0">
                <a:latin typeface="Times New Roman" panose="02020603050405020304" pitchFamily="18" charset="0"/>
                <a:cs typeface="Times New Roman" panose="02020603050405020304" pitchFamily="18" charset="0"/>
              </a:rPr>
              <a:t>Evolution: Waterfall → Agile → DevOps</a:t>
            </a:r>
          </a:p>
          <a:p>
            <a:r>
              <a:rPr lang="en-US" sz="2900" dirty="0">
                <a:latin typeface="Times New Roman" panose="02020603050405020304" pitchFamily="18" charset="0"/>
                <a:cs typeface="Times New Roman" panose="02020603050405020304" pitchFamily="18" charset="0"/>
              </a:rPr>
              <a:t>Software development has evolved over time to meet changing business requirements and customer expectations.</a:t>
            </a:r>
          </a:p>
          <a:p>
            <a:r>
              <a:rPr lang="en-US" sz="2900" b="1" dirty="0">
                <a:latin typeface="Times New Roman" panose="02020603050405020304" pitchFamily="18" charset="0"/>
                <a:cs typeface="Times New Roman" panose="02020603050405020304" pitchFamily="18" charset="0"/>
              </a:rPr>
              <a:t>1. Waterfall Model</a:t>
            </a:r>
          </a:p>
          <a:p>
            <a:r>
              <a:rPr lang="en-US" sz="2900" dirty="0">
                <a:latin typeface="Times New Roman" panose="02020603050405020304" pitchFamily="18" charset="0"/>
                <a:cs typeface="Times New Roman" panose="02020603050405020304" pitchFamily="18" charset="0"/>
              </a:rPr>
              <a:t>The Waterfall model is the oldest software development methodology. In this model, each phase is completed before moving to the next phase.</a:t>
            </a:r>
          </a:p>
          <a:p>
            <a:r>
              <a:rPr lang="en-US" sz="2900" dirty="0">
                <a:latin typeface="Times New Roman" panose="02020603050405020304" pitchFamily="18" charset="0"/>
                <a:cs typeface="Times New Roman" panose="02020603050405020304" pitchFamily="18" charset="0"/>
              </a:rPr>
              <a:t>The sequence is:</a:t>
            </a:r>
          </a:p>
          <a:p>
            <a:r>
              <a:rPr lang="en-US" sz="2900" dirty="0">
                <a:latin typeface="Times New Roman" panose="02020603050405020304" pitchFamily="18" charset="0"/>
                <a:cs typeface="Times New Roman" panose="02020603050405020304" pitchFamily="18" charset="0"/>
              </a:rPr>
              <a:t>Requirements → Design → Development → Testing → Deployment → Maintenance</a:t>
            </a:r>
          </a:p>
          <a:p>
            <a:r>
              <a:rPr lang="en-US" sz="2900" dirty="0">
                <a:latin typeface="Times New Roman" panose="02020603050405020304" pitchFamily="18" charset="0"/>
                <a:cs typeface="Times New Roman" panose="02020603050405020304" pitchFamily="18" charset="0"/>
              </a:rPr>
              <a:t>Once a phase is completed, it is difficult to go back and make changes.</a:t>
            </a:r>
          </a:p>
          <a:p>
            <a:r>
              <a:rPr lang="en-US" sz="2900" b="1" dirty="0">
                <a:latin typeface="Times New Roman" panose="02020603050405020304" pitchFamily="18" charset="0"/>
                <a:cs typeface="Times New Roman" panose="02020603050405020304" pitchFamily="18" charset="0"/>
              </a:rPr>
              <a:t>Advantages</a:t>
            </a:r>
          </a:p>
          <a:p>
            <a:r>
              <a:rPr lang="en-US" sz="2900" dirty="0">
                <a:latin typeface="Times New Roman" panose="02020603050405020304" pitchFamily="18" charset="0"/>
                <a:cs typeface="Times New Roman" panose="02020603050405020304" pitchFamily="18" charset="0"/>
              </a:rPr>
              <a:t>Easy to understand. </a:t>
            </a:r>
          </a:p>
          <a:p>
            <a:r>
              <a:rPr lang="en-US" sz="2900" dirty="0">
                <a:latin typeface="Times New Roman" panose="02020603050405020304" pitchFamily="18" charset="0"/>
                <a:cs typeface="Times New Roman" panose="02020603050405020304" pitchFamily="18" charset="0"/>
              </a:rPr>
              <a:t>Well-organized documentation. </a:t>
            </a:r>
          </a:p>
          <a:p>
            <a:r>
              <a:rPr lang="en-US" sz="2900" dirty="0">
                <a:latin typeface="Times New Roman" panose="02020603050405020304" pitchFamily="18" charset="0"/>
                <a:cs typeface="Times New Roman" panose="02020603050405020304" pitchFamily="18" charset="0"/>
              </a:rPr>
              <a:t>Suitable for small projects with fixed requirements. </a:t>
            </a:r>
          </a:p>
          <a:p>
            <a:r>
              <a:rPr lang="en-US" sz="2900" b="1" dirty="0">
                <a:latin typeface="Times New Roman" panose="02020603050405020304" pitchFamily="18" charset="0"/>
                <a:cs typeface="Times New Roman" panose="02020603050405020304" pitchFamily="18" charset="0"/>
              </a:rPr>
              <a:t>Disadvantages</a:t>
            </a:r>
          </a:p>
          <a:p>
            <a:r>
              <a:rPr lang="en-US" sz="2900" dirty="0">
                <a:latin typeface="Times New Roman" panose="02020603050405020304" pitchFamily="18" charset="0"/>
                <a:cs typeface="Times New Roman" panose="02020603050405020304" pitchFamily="18" charset="0"/>
              </a:rPr>
              <a:t>Very slow. </a:t>
            </a:r>
          </a:p>
          <a:p>
            <a:r>
              <a:rPr lang="en-US" sz="2900" dirty="0">
                <a:latin typeface="Times New Roman" panose="02020603050405020304" pitchFamily="18" charset="0"/>
                <a:cs typeface="Times New Roman" panose="02020603050405020304" pitchFamily="18" charset="0"/>
              </a:rPr>
              <a:t>Changes are difficult after development begins. </a:t>
            </a:r>
          </a:p>
          <a:p>
            <a:r>
              <a:rPr lang="en-US" sz="2900" dirty="0">
                <a:latin typeface="Times New Roman" panose="02020603050405020304" pitchFamily="18" charset="0"/>
                <a:cs typeface="Times New Roman" panose="02020603050405020304" pitchFamily="18" charset="0"/>
              </a:rPr>
              <a:t>Errors discovered late become expensive to fix. </a:t>
            </a:r>
          </a:p>
          <a:p>
            <a:r>
              <a:rPr lang="en-US" sz="2900" dirty="0">
                <a:latin typeface="Times New Roman" panose="02020603050405020304" pitchFamily="18" charset="0"/>
                <a:cs typeface="Times New Roman" panose="02020603050405020304" pitchFamily="18" charset="0"/>
              </a:rPr>
              <a:t>Customers see the final product only after completion.</a:t>
            </a:r>
          </a:p>
          <a:p>
            <a:endParaRPr lang="en-US" dirty="0"/>
          </a:p>
        </p:txBody>
      </p:sp>
      <p:pic>
        <p:nvPicPr>
          <p:cNvPr id="4" name="Picture 3"/>
          <p:cNvPicPr>
            <a:picLocks noChangeAspect="1"/>
          </p:cNvPicPr>
          <p:nvPr/>
        </p:nvPicPr>
        <p:blipFill rotWithShape="1">
          <a:blip r:embed="rId2"/>
          <a:srcRect l="3605" t="12873" r="5844" b="14970"/>
          <a:stretch>
            <a:fillRect/>
          </a:stretch>
        </p:blipFill>
        <p:spPr>
          <a:xfrm>
            <a:off x="6068373" y="3657600"/>
            <a:ext cx="5283568" cy="3077737"/>
          </a:xfrm>
          <a:prstGeom prst="rect">
            <a:avLst/>
          </a:prstGeom>
        </p:spPr>
      </p:pic>
    </p:spTree>
  </p:cSld>
  <p:clrMapOvr>
    <a:masterClrMapping/>
  </p:clrMapOvr>
  <p:transition spd="slow">
    <p:push dir="u"/>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2. Agile Methodology</a:t>
            </a:r>
            <a:br>
              <a:rPr lang="en-US" b="1" dirty="0"/>
            </a:br>
            <a:endParaRPr lang="en-US" dirty="0"/>
          </a:p>
        </p:txBody>
      </p:sp>
      <p:sp>
        <p:nvSpPr>
          <p:cNvPr id="3" name="Content Placeholder 2"/>
          <p:cNvSpPr>
            <a:spLocks noGrp="1"/>
          </p:cNvSpPr>
          <p:nvPr>
            <p:ph idx="1"/>
          </p:nvPr>
        </p:nvSpPr>
        <p:spPr>
          <a:xfrm>
            <a:off x="913795" y="2076450"/>
            <a:ext cx="10353762" cy="4480467"/>
          </a:xfrm>
        </p:spPr>
        <p:txBody>
          <a:bodyPr>
            <a:normAutofit fontScale="70000" lnSpcReduction="20000"/>
          </a:bodyPr>
          <a:lstStyle/>
          <a:p>
            <a:r>
              <a:rPr lang="en-US" dirty="0" smtClean="0"/>
              <a:t>Agile </a:t>
            </a:r>
            <a:r>
              <a:rPr lang="en-US" dirty="0"/>
              <a:t>was introduced to overcome the limitations of the Waterfall model.</a:t>
            </a:r>
          </a:p>
          <a:p>
            <a:r>
              <a:rPr lang="en-US" dirty="0"/>
              <a:t>Instead of developing the entire project at once, Agile divides the project into small parts called </a:t>
            </a:r>
            <a:r>
              <a:rPr lang="en-US" b="1" dirty="0"/>
              <a:t>Sprints</a:t>
            </a:r>
            <a:r>
              <a:rPr lang="en-US" dirty="0"/>
              <a:t>. Each sprint usually lasts between one and four weeks.</a:t>
            </a:r>
          </a:p>
          <a:p>
            <a:r>
              <a:rPr lang="en-US" dirty="0"/>
              <a:t>At the end of every sprint, customers review the software and provide feedback. Developers then improve the product based on this feedback.</a:t>
            </a:r>
          </a:p>
          <a:p>
            <a:r>
              <a:rPr lang="en-US" b="1" dirty="0"/>
              <a:t>Advantages</a:t>
            </a:r>
          </a:p>
          <a:p>
            <a:r>
              <a:rPr lang="en-US" dirty="0"/>
              <a:t>Faster development. </a:t>
            </a:r>
          </a:p>
          <a:p>
            <a:r>
              <a:rPr lang="en-US" dirty="0"/>
              <a:t>Continuous customer involvement. </a:t>
            </a:r>
          </a:p>
          <a:p>
            <a:r>
              <a:rPr lang="en-US" dirty="0"/>
              <a:t>Easy to make changes. </a:t>
            </a:r>
          </a:p>
          <a:p>
            <a:r>
              <a:rPr lang="en-US" dirty="0"/>
              <a:t>Early bug detection. </a:t>
            </a:r>
          </a:p>
          <a:p>
            <a:r>
              <a:rPr lang="en-US" b="1" dirty="0"/>
              <a:t>Limitation</a:t>
            </a:r>
          </a:p>
          <a:p>
            <a:r>
              <a:rPr lang="en-US" dirty="0"/>
              <a:t>Although Agile improved development speed, deployment was still mostly manual and handled separately by operations teams.</a:t>
            </a:r>
          </a:p>
          <a:p>
            <a:endParaRPr lang="en-US" dirty="0"/>
          </a:p>
        </p:txBody>
      </p:sp>
    </p:spTree>
  </p:cSld>
  <p:clrMapOvr>
    <a:masterClrMapping/>
  </p:clrMapOvr>
  <p:transition spd="slow">
    <p:push dir="u"/>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3. DevOps</a:t>
            </a:r>
            <a:br>
              <a:rPr lang="en-US" b="1" dirty="0"/>
            </a:br>
            <a:endParaRPr lang="en-US" dirty="0"/>
          </a:p>
        </p:txBody>
      </p:sp>
      <p:sp>
        <p:nvSpPr>
          <p:cNvPr id="3" name="Content Placeholder 2"/>
          <p:cNvSpPr>
            <a:spLocks noGrp="1"/>
          </p:cNvSpPr>
          <p:nvPr>
            <p:ph idx="1"/>
          </p:nvPr>
        </p:nvSpPr>
        <p:spPr>
          <a:xfrm>
            <a:off x="913795" y="1427356"/>
            <a:ext cx="10353762" cy="5107259"/>
          </a:xfrm>
        </p:spPr>
        <p:txBody>
          <a:bodyPr>
            <a:normAutofit fontScale="70000" lnSpcReduction="20000"/>
          </a:bodyPr>
          <a:lstStyle/>
          <a:p>
            <a:r>
              <a:rPr lang="en-US" dirty="0" smtClean="0"/>
              <a:t>DevOps </a:t>
            </a:r>
            <a:r>
              <a:rPr lang="en-US" dirty="0"/>
              <a:t>extends Agile by integrating development and operations.</a:t>
            </a:r>
          </a:p>
          <a:p>
            <a:r>
              <a:rPr lang="en-US" dirty="0"/>
              <a:t>It introduces:</a:t>
            </a:r>
          </a:p>
          <a:p>
            <a:r>
              <a:rPr lang="en-US" dirty="0"/>
              <a:t>Continuous Integration (CI) </a:t>
            </a:r>
          </a:p>
          <a:p>
            <a:r>
              <a:rPr lang="en-US" dirty="0"/>
              <a:t>Continuous Testing </a:t>
            </a:r>
          </a:p>
          <a:p>
            <a:r>
              <a:rPr lang="en-US" dirty="0"/>
              <a:t>Continuous Deployment (CD) </a:t>
            </a:r>
          </a:p>
          <a:p>
            <a:r>
              <a:rPr lang="en-US" dirty="0"/>
              <a:t>Automation </a:t>
            </a:r>
          </a:p>
          <a:p>
            <a:r>
              <a:rPr lang="en-US" dirty="0"/>
              <a:t>Continuous Monitoring </a:t>
            </a:r>
          </a:p>
          <a:p>
            <a:r>
              <a:rPr lang="en-US" dirty="0"/>
              <a:t>Developers, testers, and operations engineers collaborate throughout the software lifecycle.</a:t>
            </a:r>
          </a:p>
          <a:p>
            <a:r>
              <a:rPr lang="en-US" dirty="0"/>
              <a:t>This enables companies to release software multiple times per day if required</a:t>
            </a:r>
            <a:r>
              <a:rPr lang="en-US" dirty="0" smtClean="0"/>
              <a:t>.</a:t>
            </a:r>
          </a:p>
          <a:p>
            <a:r>
              <a:rPr lang="en-US" b="1" dirty="0"/>
              <a:t>Real-Life Example</a:t>
            </a:r>
          </a:p>
          <a:p>
            <a:r>
              <a:rPr lang="en-US" dirty="0"/>
              <a:t>Think of building a house.</a:t>
            </a:r>
          </a:p>
          <a:p>
            <a:r>
              <a:rPr lang="en-US" dirty="0"/>
              <a:t>Waterfall: Build the entire house first and only then show it to the owner. </a:t>
            </a:r>
          </a:p>
          <a:p>
            <a:r>
              <a:rPr lang="en-US" dirty="0"/>
              <a:t>Agile: Build one room at a time and get feedback after each room. </a:t>
            </a:r>
          </a:p>
          <a:p>
            <a:r>
              <a:rPr lang="en-US" dirty="0"/>
              <a:t>DevOps: Build the house, inspect it continuously, fix issues immediately, and maintain it even after the owner moves in.</a:t>
            </a:r>
          </a:p>
          <a:p>
            <a:endParaRPr lang="en-US" dirty="0"/>
          </a:p>
          <a:p>
            <a:endParaRPr lang="en-US" dirty="0"/>
          </a:p>
        </p:txBody>
      </p:sp>
    </p:spTree>
  </p:cSld>
  <p:clrMapOvr>
    <a:masterClrMapping/>
  </p:clrMapOvr>
  <p:transition spd="slow">
    <p:push dir="u"/>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Development Team vs Operations Team</a:t>
            </a:r>
          </a:p>
        </p:txBody>
      </p:sp>
      <p:sp>
        <p:nvSpPr>
          <p:cNvPr id="3" name="Content Placeholder 2"/>
          <p:cNvSpPr>
            <a:spLocks noGrp="1"/>
          </p:cNvSpPr>
          <p:nvPr>
            <p:ph idx="1"/>
          </p:nvPr>
        </p:nvSpPr>
        <p:spPr>
          <a:xfrm>
            <a:off x="913795" y="2076450"/>
            <a:ext cx="10353762" cy="4491620"/>
          </a:xfrm>
        </p:spPr>
        <p:txBody>
          <a:bodyPr>
            <a:normAutofit fontScale="92500"/>
          </a:bodyPr>
          <a:lstStyle/>
          <a:p>
            <a:r>
              <a:rPr lang="en-US" b="1" dirty="0"/>
              <a:t>Development Team (Dev)</a:t>
            </a:r>
          </a:p>
          <a:p>
            <a:r>
              <a:rPr lang="en-US" dirty="0"/>
              <a:t>The development team is responsible for designing and writing the software application. Their main objective is to create new features and improve the functionality of the software.</a:t>
            </a:r>
          </a:p>
          <a:p>
            <a:r>
              <a:rPr lang="en-US" b="1" dirty="0"/>
              <a:t>Responsibilities</a:t>
            </a:r>
          </a:p>
          <a:p>
            <a:r>
              <a:rPr lang="en-US" dirty="0"/>
              <a:t>Writing program code. </a:t>
            </a:r>
          </a:p>
          <a:p>
            <a:r>
              <a:rPr lang="en-US" dirty="0"/>
              <a:t>Designing software architecture. </a:t>
            </a:r>
          </a:p>
          <a:p>
            <a:r>
              <a:rPr lang="en-US" dirty="0"/>
              <a:t>Fixing software bugs. </a:t>
            </a:r>
          </a:p>
          <a:p>
            <a:r>
              <a:rPr lang="en-US" dirty="0"/>
              <a:t>Implementing customer requirements. </a:t>
            </a:r>
          </a:p>
          <a:p>
            <a:r>
              <a:rPr lang="en-US" dirty="0"/>
              <a:t>Improving application performance</a:t>
            </a:r>
            <a:r>
              <a:rPr lang="en-US" dirty="0" smtClean="0"/>
              <a:t>.</a:t>
            </a:r>
          </a:p>
          <a:p>
            <a:endParaRPr lang="en-US" dirty="0" smtClean="0"/>
          </a:p>
          <a:p>
            <a:endParaRPr lang="en-US" dirty="0"/>
          </a:p>
        </p:txBody>
      </p:sp>
      <p:pic>
        <p:nvPicPr>
          <p:cNvPr id="4" name="Picture 3"/>
          <p:cNvPicPr>
            <a:picLocks noChangeAspect="1"/>
          </p:cNvPicPr>
          <p:nvPr/>
        </p:nvPicPr>
        <p:blipFill>
          <a:blip r:embed="rId2"/>
          <a:stretch>
            <a:fillRect/>
          </a:stretch>
        </p:blipFill>
        <p:spPr>
          <a:xfrm>
            <a:off x="6713034" y="3390320"/>
            <a:ext cx="4910254" cy="3177750"/>
          </a:xfrm>
          <a:prstGeom prst="rect">
            <a:avLst/>
          </a:prstGeom>
        </p:spPr>
      </p:pic>
    </p:spTree>
  </p:cSld>
  <p:clrMapOvr>
    <a:masterClrMapping/>
  </p:clrMapOvr>
  <p:transition spd="slow">
    <p:push dir="u"/>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46888" y="591015"/>
            <a:ext cx="10353762" cy="6110868"/>
          </a:xfrm>
        </p:spPr>
        <p:txBody>
          <a:bodyPr>
            <a:normAutofit fontScale="55000" lnSpcReduction="20000"/>
          </a:bodyPr>
          <a:lstStyle/>
          <a:p>
            <a:r>
              <a:rPr lang="en-US" sz="2900" b="1" dirty="0">
                <a:latin typeface="Times New Roman" panose="02020603050405020304" pitchFamily="18" charset="0"/>
                <a:cs typeface="Times New Roman" panose="02020603050405020304" pitchFamily="18" charset="0"/>
              </a:rPr>
              <a:t>Operations Team (Ops)</a:t>
            </a:r>
          </a:p>
          <a:p>
            <a:r>
              <a:rPr lang="en-US" sz="2900" dirty="0">
                <a:latin typeface="Times New Roman" panose="02020603050405020304" pitchFamily="18" charset="0"/>
                <a:cs typeface="Times New Roman" panose="02020603050405020304" pitchFamily="18" charset="0"/>
              </a:rPr>
              <a:t>The operations team is responsible for deploying, managing, and maintaining software after it is developed.</a:t>
            </a:r>
          </a:p>
          <a:p>
            <a:r>
              <a:rPr lang="en-US" sz="2900" b="1" dirty="0">
                <a:latin typeface="Times New Roman" panose="02020603050405020304" pitchFamily="18" charset="0"/>
                <a:cs typeface="Times New Roman" panose="02020603050405020304" pitchFamily="18" charset="0"/>
              </a:rPr>
              <a:t>Responsibilities</a:t>
            </a:r>
          </a:p>
          <a:p>
            <a:r>
              <a:rPr lang="en-US" sz="2900" dirty="0">
                <a:latin typeface="Times New Roman" panose="02020603050405020304" pitchFamily="18" charset="0"/>
                <a:cs typeface="Times New Roman" panose="02020603050405020304" pitchFamily="18" charset="0"/>
              </a:rPr>
              <a:t>Deploying applications to servers. </a:t>
            </a:r>
          </a:p>
          <a:p>
            <a:r>
              <a:rPr lang="en-US" sz="2900" dirty="0">
                <a:latin typeface="Times New Roman" panose="02020603050405020304" pitchFamily="18" charset="0"/>
                <a:cs typeface="Times New Roman" panose="02020603050405020304" pitchFamily="18" charset="0"/>
              </a:rPr>
              <a:t>Managing cloud infrastructure. </a:t>
            </a:r>
          </a:p>
          <a:p>
            <a:r>
              <a:rPr lang="en-US" sz="2900" dirty="0">
                <a:latin typeface="Times New Roman" panose="02020603050405020304" pitchFamily="18" charset="0"/>
                <a:cs typeface="Times New Roman" panose="02020603050405020304" pitchFamily="18" charset="0"/>
              </a:rPr>
              <a:t>Monitoring system performance. </a:t>
            </a:r>
          </a:p>
          <a:p>
            <a:r>
              <a:rPr lang="en-US" sz="2900" dirty="0">
                <a:latin typeface="Times New Roman" panose="02020603050405020304" pitchFamily="18" charset="0"/>
                <a:cs typeface="Times New Roman" panose="02020603050405020304" pitchFamily="18" charset="0"/>
              </a:rPr>
              <a:t>Performing backups. </a:t>
            </a:r>
          </a:p>
          <a:p>
            <a:r>
              <a:rPr lang="en-US" sz="2900" dirty="0">
                <a:latin typeface="Times New Roman" panose="02020603050405020304" pitchFamily="18" charset="0"/>
                <a:cs typeface="Times New Roman" panose="02020603050405020304" pitchFamily="18" charset="0"/>
              </a:rPr>
              <a:t>Ensuring application security. </a:t>
            </a:r>
          </a:p>
          <a:p>
            <a:r>
              <a:rPr lang="en-US" sz="2900" dirty="0">
                <a:latin typeface="Times New Roman" panose="02020603050405020304" pitchFamily="18" charset="0"/>
                <a:cs typeface="Times New Roman" panose="02020603050405020304" pitchFamily="18" charset="0"/>
              </a:rPr>
              <a:t>Maintaining high system availability</a:t>
            </a:r>
            <a:r>
              <a:rPr lang="en-US" sz="2900" dirty="0" smtClean="0">
                <a:latin typeface="Times New Roman" panose="02020603050405020304" pitchFamily="18" charset="0"/>
                <a:cs typeface="Times New Roman" panose="02020603050405020304" pitchFamily="18" charset="0"/>
              </a:rPr>
              <a:t>.</a:t>
            </a:r>
          </a:p>
          <a:p>
            <a:r>
              <a:rPr lang="en-US" sz="2900" b="1" dirty="0">
                <a:latin typeface="Times New Roman" panose="02020603050405020304" pitchFamily="18" charset="0"/>
                <a:cs typeface="Times New Roman" panose="02020603050405020304" pitchFamily="18" charset="0"/>
              </a:rPr>
              <a:t>DevOps Approach</a:t>
            </a:r>
          </a:p>
          <a:p>
            <a:r>
              <a:rPr lang="en-US" sz="2900" dirty="0">
                <a:latin typeface="Times New Roman" panose="02020603050405020304" pitchFamily="18" charset="0"/>
                <a:cs typeface="Times New Roman" panose="02020603050405020304" pitchFamily="18" charset="0"/>
              </a:rPr>
              <a:t>Instead of working independently, developers and operations engineers work together throughout the project lifecycle. This collaboration helps reduce deployment failures and improves software quality.</a:t>
            </a:r>
          </a:p>
          <a:p>
            <a:r>
              <a:rPr lang="en-US" sz="2900" b="1" dirty="0">
                <a:latin typeface="Times New Roman" panose="02020603050405020304" pitchFamily="18" charset="0"/>
                <a:cs typeface="Times New Roman" panose="02020603050405020304" pitchFamily="18" charset="0"/>
              </a:rPr>
              <a:t>Real-Life Example</a:t>
            </a:r>
          </a:p>
          <a:p>
            <a:r>
              <a:rPr lang="en-US" sz="2900" dirty="0">
                <a:latin typeface="Times New Roman" panose="02020603050405020304" pitchFamily="18" charset="0"/>
                <a:cs typeface="Times New Roman" panose="02020603050405020304" pitchFamily="18" charset="0"/>
              </a:rPr>
              <a:t>In a hospital:</a:t>
            </a:r>
          </a:p>
          <a:p>
            <a:r>
              <a:rPr lang="en-US" sz="2900" dirty="0">
                <a:latin typeface="Times New Roman" panose="02020603050405020304" pitchFamily="18" charset="0"/>
                <a:cs typeface="Times New Roman" panose="02020603050405020304" pitchFamily="18" charset="0"/>
              </a:rPr>
              <a:t>Doctors diagnose and treat patients. </a:t>
            </a:r>
          </a:p>
          <a:p>
            <a:r>
              <a:rPr lang="en-US" sz="2900" dirty="0">
                <a:latin typeface="Times New Roman" panose="02020603050405020304" pitchFamily="18" charset="0"/>
                <a:cs typeface="Times New Roman" panose="02020603050405020304" pitchFamily="18" charset="0"/>
              </a:rPr>
              <a:t>Nurses monitor patients and provide ongoing care. </a:t>
            </a:r>
          </a:p>
          <a:p>
            <a:r>
              <a:rPr lang="en-US" sz="2900" dirty="0">
                <a:latin typeface="Times New Roman" panose="02020603050405020304" pitchFamily="18" charset="0"/>
                <a:cs typeface="Times New Roman" panose="02020603050405020304" pitchFamily="18" charset="0"/>
              </a:rPr>
              <a:t>Both roles are equally important. If they fail to communicate, patient care suffers. Similarly, DevOps ensures developers and operations teams work together to deliver reliable software.</a:t>
            </a:r>
          </a:p>
          <a:p>
            <a:endParaRPr lang="en-US" dirty="0"/>
          </a:p>
        </p:txBody>
      </p:sp>
    </p:spTree>
  </p:cSld>
  <p:clrMapOvr>
    <a:masterClrMapping/>
  </p:clrMapOvr>
  <p:transition spd="slow">
    <p:push dir="u"/>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290945"/>
            <a:ext cx="10353762" cy="1257300"/>
          </a:xfrm>
        </p:spPr>
        <p:txBody>
          <a:bodyPr/>
          <a:lstStyle/>
          <a:p>
            <a:r>
              <a:rPr lang="en-US" dirty="0"/>
              <a:t>Benefits of DevOps</a:t>
            </a:r>
          </a:p>
        </p:txBody>
      </p:sp>
      <p:sp>
        <p:nvSpPr>
          <p:cNvPr id="3" name="Content Placeholder 2"/>
          <p:cNvSpPr>
            <a:spLocks noGrp="1"/>
          </p:cNvSpPr>
          <p:nvPr>
            <p:ph idx="1"/>
          </p:nvPr>
        </p:nvSpPr>
        <p:spPr>
          <a:xfrm>
            <a:off x="913795" y="1731818"/>
            <a:ext cx="10353762" cy="4791645"/>
          </a:xfrm>
        </p:spPr>
        <p:txBody>
          <a:bodyPr>
            <a:normAutofit fontScale="92500" lnSpcReduction="20000"/>
          </a:bodyPr>
          <a:lstStyle/>
          <a:p>
            <a:r>
              <a:rPr lang="en-US" b="1" dirty="0"/>
              <a:t>1. Faster Software Delivery</a:t>
            </a:r>
          </a:p>
          <a:p>
            <a:r>
              <a:rPr lang="en-US" dirty="0"/>
              <a:t>Automation allows software to be developed, tested, and deployed much faster. Organizations can release updates frequently without long delays.</a:t>
            </a:r>
          </a:p>
          <a:p>
            <a:r>
              <a:rPr lang="en-US" b="1" dirty="0"/>
              <a:t>2. Improved Collaboration</a:t>
            </a:r>
          </a:p>
          <a:p>
            <a:r>
              <a:rPr lang="en-US" dirty="0"/>
              <a:t>Developers, testers, and operations engineers work as one team, improving communication and reducing misunderstandings.</a:t>
            </a:r>
          </a:p>
          <a:p>
            <a:r>
              <a:rPr lang="en-US" b="1" dirty="0"/>
              <a:t>3. Better Software Quality</a:t>
            </a:r>
          </a:p>
          <a:p>
            <a:r>
              <a:rPr lang="en-US" dirty="0"/>
              <a:t>Automated testing detects bugs early, reducing the chances of software failures after deployment.</a:t>
            </a:r>
          </a:p>
          <a:p>
            <a:r>
              <a:rPr lang="en-US" b="1" dirty="0"/>
              <a:t>4. Increased Reliability</a:t>
            </a:r>
          </a:p>
          <a:p>
            <a:r>
              <a:rPr lang="en-US" dirty="0"/>
              <a:t>Continuous monitoring helps identify and resolve issues before they affect customers, improving system stability.</a:t>
            </a:r>
          </a:p>
          <a:p>
            <a:endParaRPr lang="en-US" dirty="0"/>
          </a:p>
        </p:txBody>
      </p:sp>
    </p:spTree>
  </p:cSld>
  <p:clrMapOvr>
    <a:masterClrMapping/>
  </p:clrMapOvr>
  <p:transition spd="slow">
    <p:push dir="u"/>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Benefits of DevOps</a:t>
            </a:r>
          </a:p>
        </p:txBody>
      </p:sp>
      <p:sp>
        <p:nvSpPr>
          <p:cNvPr id="3" name="Content Placeholder 2"/>
          <p:cNvSpPr>
            <a:spLocks noGrp="1"/>
          </p:cNvSpPr>
          <p:nvPr>
            <p:ph idx="1"/>
          </p:nvPr>
        </p:nvSpPr>
        <p:spPr>
          <a:xfrm>
            <a:off x="913795" y="2076450"/>
            <a:ext cx="10353762" cy="4255077"/>
          </a:xfrm>
        </p:spPr>
        <p:txBody>
          <a:bodyPr>
            <a:normAutofit lnSpcReduction="10000"/>
          </a:bodyPr>
          <a:lstStyle/>
          <a:p>
            <a:r>
              <a:rPr lang="en-US" b="1" dirty="0"/>
              <a:t>5. Automation</a:t>
            </a:r>
          </a:p>
          <a:p>
            <a:r>
              <a:rPr lang="en-US" dirty="0"/>
              <a:t>Many repetitive tasks, such as testing, deployment, and infrastructure setup, are automated. This saves time and reduces human errors.</a:t>
            </a:r>
          </a:p>
          <a:p>
            <a:r>
              <a:rPr lang="en-US" b="1" dirty="0"/>
              <a:t>6. Reduced Costs</a:t>
            </a:r>
          </a:p>
          <a:p>
            <a:r>
              <a:rPr lang="en-US" dirty="0"/>
              <a:t>Early bug detection and automated processes reduce maintenance costs and minimize downtime.</a:t>
            </a:r>
          </a:p>
          <a:p>
            <a:r>
              <a:rPr lang="en-US" b="1" dirty="0"/>
              <a:t>7. Higher Customer Satisfaction</a:t>
            </a:r>
          </a:p>
          <a:p>
            <a:r>
              <a:rPr lang="en-US" dirty="0"/>
              <a:t>Customers receive new features, bug fixes, and security updates more quickly, leading to a better user experience.</a:t>
            </a:r>
          </a:p>
          <a:p>
            <a:endParaRPr lang="en-US" dirty="0"/>
          </a:p>
        </p:txBody>
      </p:sp>
    </p:spTree>
  </p:cSld>
  <p:clrMapOvr>
    <a:masterClrMapping/>
  </p:clrMapOvr>
  <p:transition spd="slow">
    <p:push dir="u"/>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SDLC (Software Development Life Cycle) &amp; DevOps Integration</a:t>
            </a:r>
            <a:br>
              <a:rPr lang="en-US" b="1" dirty="0"/>
            </a:br>
            <a:endParaRPr lang="en-US" dirty="0"/>
          </a:p>
        </p:txBody>
      </p:sp>
      <p:sp>
        <p:nvSpPr>
          <p:cNvPr id="3" name="Content Placeholder 2"/>
          <p:cNvSpPr>
            <a:spLocks noGrp="1"/>
          </p:cNvSpPr>
          <p:nvPr>
            <p:ph idx="1"/>
          </p:nvPr>
        </p:nvSpPr>
        <p:spPr>
          <a:xfrm>
            <a:off x="913795" y="2076450"/>
            <a:ext cx="10353762" cy="4559877"/>
          </a:xfrm>
        </p:spPr>
        <p:txBody>
          <a:bodyPr>
            <a:normAutofit fontScale="85000" lnSpcReduction="20000"/>
          </a:bodyPr>
          <a:lstStyle/>
          <a:p>
            <a:r>
              <a:rPr lang="en-US" dirty="0">
                <a:latin typeface="Times New Roman" panose="02020603050405020304" pitchFamily="18" charset="0"/>
                <a:cs typeface="Times New Roman" panose="02020603050405020304" pitchFamily="18" charset="0"/>
              </a:rPr>
              <a:t>How Does DevOps Fit into SDLC</a:t>
            </a:r>
            <a:r>
              <a:rPr lang="en-US" dirty="0" smtClean="0">
                <a:latin typeface="Times New Roman" panose="02020603050405020304" pitchFamily="18" charset="0"/>
                <a:cs typeface="Times New Roman" panose="02020603050405020304" pitchFamily="18" charset="0"/>
              </a:rPr>
              <a:t>?</a:t>
            </a:r>
          </a:p>
          <a:p>
            <a:r>
              <a:rPr lang="en-US" dirty="0">
                <a:latin typeface="Times New Roman" panose="02020603050405020304" pitchFamily="18" charset="0"/>
                <a:cs typeface="Times New Roman" panose="02020603050405020304" pitchFamily="18" charset="0"/>
              </a:rPr>
              <a:t>Traditional SDLC follows a sequential process where each phase is completed before moving to the next.</a:t>
            </a:r>
          </a:p>
          <a:p>
            <a:r>
              <a:rPr lang="en-US" dirty="0">
                <a:latin typeface="Times New Roman" panose="02020603050405020304" pitchFamily="18" charset="0"/>
                <a:cs typeface="Times New Roman" panose="02020603050405020304" pitchFamily="18" charset="0"/>
              </a:rPr>
              <a:t>DevOps integrates with every phase of SDLC by introducing:</a:t>
            </a:r>
          </a:p>
          <a:p>
            <a:r>
              <a:rPr lang="en-US" dirty="0">
                <a:latin typeface="Times New Roman" panose="02020603050405020304" pitchFamily="18" charset="0"/>
                <a:cs typeface="Times New Roman" panose="02020603050405020304" pitchFamily="18" charset="0"/>
              </a:rPr>
              <a:t>Automation </a:t>
            </a:r>
          </a:p>
          <a:p>
            <a:r>
              <a:rPr lang="en-US" dirty="0">
                <a:latin typeface="Times New Roman" panose="02020603050405020304" pitchFamily="18" charset="0"/>
                <a:cs typeface="Times New Roman" panose="02020603050405020304" pitchFamily="18" charset="0"/>
              </a:rPr>
              <a:t>Continuous Testing </a:t>
            </a:r>
          </a:p>
          <a:p>
            <a:r>
              <a:rPr lang="en-US" dirty="0">
                <a:latin typeface="Times New Roman" panose="02020603050405020304" pitchFamily="18" charset="0"/>
                <a:cs typeface="Times New Roman" panose="02020603050405020304" pitchFamily="18" charset="0"/>
              </a:rPr>
              <a:t>Continuous Integration (CI) </a:t>
            </a:r>
          </a:p>
          <a:p>
            <a:r>
              <a:rPr lang="en-US" dirty="0">
                <a:latin typeface="Times New Roman" panose="02020603050405020304" pitchFamily="18" charset="0"/>
                <a:cs typeface="Times New Roman" panose="02020603050405020304" pitchFamily="18" charset="0"/>
              </a:rPr>
              <a:t>Continuous Deployment (CD) </a:t>
            </a:r>
          </a:p>
          <a:p>
            <a:r>
              <a:rPr lang="en-US" dirty="0">
                <a:latin typeface="Times New Roman" panose="02020603050405020304" pitchFamily="18" charset="0"/>
                <a:cs typeface="Times New Roman" panose="02020603050405020304" pitchFamily="18" charset="0"/>
              </a:rPr>
              <a:t>Continuous Monitoring </a:t>
            </a:r>
          </a:p>
          <a:p>
            <a:r>
              <a:rPr lang="en-US" dirty="0">
                <a:latin typeface="Times New Roman" panose="02020603050405020304" pitchFamily="18" charset="0"/>
                <a:cs typeface="Times New Roman" panose="02020603050405020304" pitchFamily="18" charset="0"/>
              </a:rPr>
              <a:t>Instead of waiting until the end of the project, DevOps encourages continuous collaboration and feedback throughout the software lifecycle.</a:t>
            </a:r>
          </a:p>
          <a:p>
            <a:endParaRPr lang="en-US" dirty="0"/>
          </a:p>
        </p:txBody>
      </p:sp>
    </p:spTree>
  </p:cSld>
  <p:clrMapOvr>
    <a:masterClrMapping/>
  </p:clrMapOvr>
  <p:transition spd="slow">
    <p:push dir="u"/>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SDLC Without </a:t>
            </a:r>
            <a:r>
              <a:rPr lang="en-US" dirty="0" smtClean="0"/>
              <a:t>DevOps</a:t>
            </a:r>
            <a:endParaRPr lang="en-US" dirty="0"/>
          </a:p>
        </p:txBody>
      </p:sp>
      <p:pic>
        <p:nvPicPr>
          <p:cNvPr id="4" name="Content Placeholder 3"/>
          <p:cNvPicPr>
            <a:picLocks noGrp="1" noChangeAspect="1"/>
          </p:cNvPicPr>
          <p:nvPr>
            <p:ph idx="1"/>
          </p:nvPr>
        </p:nvPicPr>
        <p:blipFill>
          <a:blip r:embed="rId2"/>
          <a:stretch>
            <a:fillRect/>
          </a:stretch>
        </p:blipFill>
        <p:spPr>
          <a:xfrm>
            <a:off x="6483928" y="3518922"/>
            <a:ext cx="5597236" cy="3145114"/>
          </a:xfrm>
          <a:prstGeom prst="rect">
            <a:avLst/>
          </a:prstGeom>
        </p:spPr>
      </p:pic>
      <p:sp>
        <p:nvSpPr>
          <p:cNvPr id="5" name="TextBox 4"/>
          <p:cNvSpPr txBox="1"/>
          <p:nvPr/>
        </p:nvSpPr>
        <p:spPr>
          <a:xfrm>
            <a:off x="498764" y="2479964"/>
            <a:ext cx="9365672" cy="3139321"/>
          </a:xfrm>
          <a:prstGeom prst="rect">
            <a:avLst/>
          </a:prstGeom>
          <a:noFill/>
        </p:spPr>
        <p:txBody>
          <a:bodyPr wrap="square" rtlCol="0">
            <a:spAutoFit/>
          </a:bodyPr>
          <a:lstStyle/>
          <a:p>
            <a:r>
              <a:rPr lang="en-US" dirty="0"/>
              <a:t>Requirement → Design → Development → Testing → Deployment</a:t>
            </a:r>
          </a:p>
          <a:p>
            <a:r>
              <a:rPr lang="en-US" dirty="0"/>
              <a:t>If a bug is found after deployment, fixing it takes more time and cost.</a:t>
            </a:r>
          </a:p>
          <a:p>
            <a:r>
              <a:rPr lang="en-US" b="1" dirty="0"/>
              <a:t>SDLC With DevOps</a:t>
            </a:r>
          </a:p>
          <a:p>
            <a:r>
              <a:rPr lang="en-US" dirty="0"/>
              <a:t>Every phase is connected.</a:t>
            </a:r>
          </a:p>
          <a:p>
            <a:r>
              <a:rPr lang="en-US" dirty="0"/>
              <a:t>Developers continuously:</a:t>
            </a:r>
          </a:p>
          <a:p>
            <a:pPr marL="285750" indent="-285750">
              <a:buFont typeface="Arial" panose="020B0604020202020204" pitchFamily="34" charset="0"/>
              <a:buChar char="•"/>
            </a:pPr>
            <a:r>
              <a:rPr lang="en-US" dirty="0"/>
              <a:t>Write code. </a:t>
            </a:r>
          </a:p>
          <a:p>
            <a:pPr marL="285750" indent="-285750">
              <a:buFont typeface="Arial" panose="020B0604020202020204" pitchFamily="34" charset="0"/>
              <a:buChar char="•"/>
            </a:pPr>
            <a:r>
              <a:rPr lang="en-US" dirty="0"/>
              <a:t>Test automatically. </a:t>
            </a:r>
          </a:p>
          <a:p>
            <a:pPr marL="285750" indent="-285750">
              <a:buFont typeface="Arial" panose="020B0604020202020204" pitchFamily="34" charset="0"/>
              <a:buChar char="•"/>
            </a:pPr>
            <a:r>
              <a:rPr lang="en-US" dirty="0"/>
              <a:t>Deploy frequently. </a:t>
            </a:r>
          </a:p>
          <a:p>
            <a:pPr marL="285750" indent="-285750">
              <a:buFont typeface="Arial" panose="020B0604020202020204" pitchFamily="34" charset="0"/>
              <a:buChar char="•"/>
            </a:pPr>
            <a:r>
              <a:rPr lang="en-US" dirty="0"/>
              <a:t>Monitor applications. </a:t>
            </a:r>
          </a:p>
          <a:p>
            <a:pPr marL="285750" indent="-285750">
              <a:buFont typeface="Arial" panose="020B0604020202020204" pitchFamily="34" charset="0"/>
              <a:buChar char="•"/>
            </a:pPr>
            <a:r>
              <a:rPr lang="en-US" dirty="0"/>
              <a:t>Improve software based on feedback.</a:t>
            </a:r>
          </a:p>
          <a:p>
            <a:endParaRPr lang="en-US" dirty="0"/>
          </a:p>
        </p:txBody>
      </p:sp>
    </p:spTree>
  </p:cSld>
  <p:clrMapOvr>
    <a:masterClrMapping/>
  </p:clrMapOvr>
  <p:transition spd="slow">
    <p:push dir="u"/>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0"/>
            <a:ext cx="10353762" cy="1257300"/>
          </a:xfrm>
        </p:spPr>
        <p:txBody>
          <a:bodyPr/>
          <a:lstStyle/>
          <a:p>
            <a:r>
              <a:rPr lang="en-US" dirty="0"/>
              <a:t>Role of the Development Team (Dev)</a:t>
            </a:r>
          </a:p>
        </p:txBody>
      </p:sp>
      <p:sp>
        <p:nvSpPr>
          <p:cNvPr id="3" name="Content Placeholder 2"/>
          <p:cNvSpPr>
            <a:spLocks noGrp="1"/>
          </p:cNvSpPr>
          <p:nvPr>
            <p:ph idx="1"/>
          </p:nvPr>
        </p:nvSpPr>
        <p:spPr>
          <a:xfrm>
            <a:off x="913795" y="1011382"/>
            <a:ext cx="10353762" cy="5680364"/>
          </a:xfrm>
        </p:spPr>
        <p:txBody>
          <a:bodyPr>
            <a:normAutofit fontScale="92500" lnSpcReduction="20000"/>
          </a:bodyPr>
          <a:lstStyle/>
          <a:p>
            <a:r>
              <a:rPr lang="en-US" b="1" dirty="0">
                <a:latin typeface="Times New Roman" panose="02020603050405020304" pitchFamily="18" charset="0"/>
                <a:cs typeface="Times New Roman" panose="02020603050405020304" pitchFamily="18" charset="0"/>
              </a:rPr>
              <a:t>Who is the Development Team?</a:t>
            </a:r>
          </a:p>
          <a:p>
            <a:r>
              <a:rPr lang="en-US" dirty="0">
                <a:latin typeface="Times New Roman" panose="02020603050405020304" pitchFamily="18" charset="0"/>
                <a:cs typeface="Times New Roman" panose="02020603050405020304" pitchFamily="18" charset="0"/>
              </a:rPr>
              <a:t>The Development team is responsible for creating the software application. Their main goal is to develop new features, improve existing functionality, and fix software bugs</a:t>
            </a:r>
            <a:r>
              <a:rPr lang="en-US" dirty="0" smtClean="0">
                <a:latin typeface="Times New Roman" panose="02020603050405020304" pitchFamily="18" charset="0"/>
                <a:cs typeface="Times New Roman" panose="02020603050405020304" pitchFamily="18" charset="0"/>
              </a:rPr>
              <a:t>.</a:t>
            </a:r>
            <a:r>
              <a:rPr lang="en-US" dirty="0"/>
              <a:t> The developer's goal is to create software that meets customer requirements and works correctly.</a:t>
            </a: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Responsibilities of Developers</a:t>
            </a:r>
          </a:p>
          <a:p>
            <a:r>
              <a:rPr lang="en-US" dirty="0">
                <a:latin typeface="Times New Roman" panose="02020603050405020304" pitchFamily="18" charset="0"/>
                <a:cs typeface="Times New Roman" panose="02020603050405020304" pitchFamily="18" charset="0"/>
              </a:rPr>
              <a:t>Understand customer requirements. </a:t>
            </a:r>
          </a:p>
          <a:p>
            <a:r>
              <a:rPr lang="en-US" dirty="0">
                <a:latin typeface="Times New Roman" panose="02020603050405020304" pitchFamily="18" charset="0"/>
                <a:cs typeface="Times New Roman" panose="02020603050405020304" pitchFamily="18" charset="0"/>
              </a:rPr>
              <a:t>Design the software architecture. </a:t>
            </a:r>
          </a:p>
          <a:p>
            <a:r>
              <a:rPr lang="en-US" dirty="0">
                <a:latin typeface="Times New Roman" panose="02020603050405020304" pitchFamily="18" charset="0"/>
                <a:cs typeface="Times New Roman" panose="02020603050405020304" pitchFamily="18" charset="0"/>
              </a:rPr>
              <a:t>Write program code. </a:t>
            </a:r>
          </a:p>
          <a:p>
            <a:r>
              <a:rPr lang="en-US" dirty="0">
                <a:latin typeface="Times New Roman" panose="02020603050405020304" pitchFamily="18" charset="0"/>
                <a:cs typeface="Times New Roman" panose="02020603050405020304" pitchFamily="18" charset="0"/>
              </a:rPr>
              <a:t>Develop new features. </a:t>
            </a:r>
          </a:p>
          <a:p>
            <a:r>
              <a:rPr lang="en-US" dirty="0">
                <a:latin typeface="Times New Roman" panose="02020603050405020304" pitchFamily="18" charset="0"/>
                <a:cs typeface="Times New Roman" panose="02020603050405020304" pitchFamily="18" charset="0"/>
              </a:rPr>
              <a:t>Fix software bugs. </a:t>
            </a:r>
          </a:p>
          <a:p>
            <a:r>
              <a:rPr lang="en-US" dirty="0">
                <a:latin typeface="Times New Roman" panose="02020603050405020304" pitchFamily="18" charset="0"/>
                <a:cs typeface="Times New Roman" panose="02020603050405020304" pitchFamily="18" charset="0"/>
              </a:rPr>
              <a:t>Perform unit testing. </a:t>
            </a:r>
          </a:p>
          <a:p>
            <a:r>
              <a:rPr lang="en-US" dirty="0">
                <a:latin typeface="Times New Roman" panose="02020603050405020304" pitchFamily="18" charset="0"/>
                <a:cs typeface="Times New Roman" panose="02020603050405020304" pitchFamily="18" charset="0"/>
              </a:rPr>
              <a:t>Improve application performance. </a:t>
            </a:r>
          </a:p>
          <a:p>
            <a:r>
              <a:rPr lang="en-US" dirty="0">
                <a:latin typeface="Times New Roman" panose="02020603050405020304" pitchFamily="18" charset="0"/>
                <a:cs typeface="Times New Roman" panose="02020603050405020304" pitchFamily="18" charset="0"/>
              </a:rPr>
              <a:t>Maintain code quality.</a:t>
            </a:r>
          </a:p>
          <a:p>
            <a:endParaRPr lang="en-US" dirty="0"/>
          </a:p>
        </p:txBody>
      </p:sp>
    </p:spTree>
    <p:extLst>
      <p:ext uri="{BB962C8B-B14F-4D97-AF65-F5344CB8AC3E}">
        <p14:creationId xmlns:p14="http://schemas.microsoft.com/office/powerpoint/2010/main" val="3169576603"/>
      </p:ext>
    </p:extLst>
  </p:cSld>
  <p:clrMapOvr>
    <a:masterClrMapping/>
  </p:clrMapOvr>
  <p:transition spd="slow">
    <p:push dir="u"/>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0"/>
            <a:ext cx="10353762" cy="1257300"/>
          </a:xfrm>
        </p:spPr>
        <p:txBody>
          <a:bodyPr/>
          <a:lstStyle/>
          <a:p>
            <a:r>
              <a:rPr lang="en-US" dirty="0"/>
              <a:t>Role of the Operations Team (Ops)</a:t>
            </a:r>
          </a:p>
        </p:txBody>
      </p:sp>
      <p:sp>
        <p:nvSpPr>
          <p:cNvPr id="3" name="Content Placeholder 2"/>
          <p:cNvSpPr>
            <a:spLocks noGrp="1"/>
          </p:cNvSpPr>
          <p:nvPr>
            <p:ph idx="1"/>
          </p:nvPr>
        </p:nvSpPr>
        <p:spPr>
          <a:xfrm>
            <a:off x="913795" y="1257300"/>
            <a:ext cx="10353762" cy="5721927"/>
          </a:xfrm>
        </p:spPr>
        <p:txBody>
          <a:bodyPr>
            <a:normAutofit fontScale="70000" lnSpcReduction="20000"/>
          </a:bodyPr>
          <a:lstStyle/>
          <a:p>
            <a:r>
              <a:rPr lang="en-US" sz="2600" b="1" dirty="0">
                <a:latin typeface="Times New Roman" panose="02020603050405020304" pitchFamily="18" charset="0"/>
                <a:cs typeface="Times New Roman" panose="02020603050405020304" pitchFamily="18" charset="0"/>
              </a:rPr>
              <a:t>Who is the Operations Team?</a:t>
            </a:r>
          </a:p>
          <a:p>
            <a:r>
              <a:rPr lang="en-US" sz="2600" dirty="0">
                <a:latin typeface="Times New Roman" panose="02020603050405020304" pitchFamily="18" charset="0"/>
                <a:cs typeface="Times New Roman" panose="02020603050405020304" pitchFamily="18" charset="0"/>
              </a:rPr>
              <a:t>The Operations team is responsible for deploying, running, and maintaining the software after development is completed.</a:t>
            </a:r>
          </a:p>
          <a:p>
            <a:r>
              <a:rPr lang="en-US" sz="2600" dirty="0">
                <a:latin typeface="Times New Roman" panose="02020603050405020304" pitchFamily="18" charset="0"/>
                <a:cs typeface="Times New Roman" panose="02020603050405020304" pitchFamily="18" charset="0"/>
              </a:rPr>
              <a:t>Even if the software is perfectly developed, users cannot access it until the Operations team deploys it to servers. The Operations team's goal is to ensure that the application runs smoothly and is available to users 24×7.</a:t>
            </a:r>
            <a:endParaRPr lang="en-US" sz="2600" dirty="0" smtClean="0">
              <a:latin typeface="Times New Roman" panose="02020603050405020304" pitchFamily="18" charset="0"/>
              <a:cs typeface="Times New Roman" panose="02020603050405020304" pitchFamily="18" charset="0"/>
            </a:endParaRPr>
          </a:p>
          <a:p>
            <a:r>
              <a:rPr lang="en-US" sz="2600" b="1" dirty="0">
                <a:latin typeface="Times New Roman" panose="02020603050405020304" pitchFamily="18" charset="0"/>
                <a:cs typeface="Times New Roman" panose="02020603050405020304" pitchFamily="18" charset="0"/>
              </a:rPr>
              <a:t>Responsibilities of Operations Team</a:t>
            </a:r>
          </a:p>
          <a:p>
            <a:r>
              <a:rPr lang="en-US" sz="2600" dirty="0">
                <a:latin typeface="Times New Roman" panose="02020603050405020304" pitchFamily="18" charset="0"/>
                <a:cs typeface="Times New Roman" panose="02020603050405020304" pitchFamily="18" charset="0"/>
              </a:rPr>
              <a:t>Deploy applications. </a:t>
            </a:r>
          </a:p>
          <a:p>
            <a:r>
              <a:rPr lang="en-US" sz="2600" dirty="0">
                <a:latin typeface="Times New Roman" panose="02020603050405020304" pitchFamily="18" charset="0"/>
                <a:cs typeface="Times New Roman" panose="02020603050405020304" pitchFamily="18" charset="0"/>
              </a:rPr>
              <a:t>Configure servers. </a:t>
            </a:r>
          </a:p>
          <a:p>
            <a:r>
              <a:rPr lang="en-US" sz="2600" dirty="0">
                <a:latin typeface="Times New Roman" panose="02020603050405020304" pitchFamily="18" charset="0"/>
                <a:cs typeface="Times New Roman" panose="02020603050405020304" pitchFamily="18" charset="0"/>
              </a:rPr>
              <a:t>Manage cloud infrastructure. </a:t>
            </a:r>
          </a:p>
          <a:p>
            <a:r>
              <a:rPr lang="en-US" sz="2600" dirty="0">
                <a:latin typeface="Times New Roman" panose="02020603050405020304" pitchFamily="18" charset="0"/>
                <a:cs typeface="Times New Roman" panose="02020603050405020304" pitchFamily="18" charset="0"/>
              </a:rPr>
              <a:t>Monitor application performance. </a:t>
            </a:r>
          </a:p>
          <a:p>
            <a:r>
              <a:rPr lang="en-US" sz="2600" dirty="0">
                <a:latin typeface="Times New Roman" panose="02020603050405020304" pitchFamily="18" charset="0"/>
                <a:cs typeface="Times New Roman" panose="02020603050405020304" pitchFamily="18" charset="0"/>
              </a:rPr>
              <a:t>Ensure system security. </a:t>
            </a:r>
          </a:p>
          <a:p>
            <a:r>
              <a:rPr lang="en-US" sz="2600" dirty="0">
                <a:latin typeface="Times New Roman" panose="02020603050405020304" pitchFamily="18" charset="0"/>
                <a:cs typeface="Times New Roman" panose="02020603050405020304" pitchFamily="18" charset="0"/>
              </a:rPr>
              <a:t>Perform backups. </a:t>
            </a:r>
          </a:p>
          <a:p>
            <a:r>
              <a:rPr lang="en-US" sz="2600" dirty="0">
                <a:latin typeface="Times New Roman" panose="02020603050405020304" pitchFamily="18" charset="0"/>
                <a:cs typeface="Times New Roman" panose="02020603050405020304" pitchFamily="18" charset="0"/>
              </a:rPr>
              <a:t>Handle server failures. </a:t>
            </a:r>
          </a:p>
          <a:p>
            <a:r>
              <a:rPr lang="en-US" sz="2600" dirty="0">
                <a:latin typeface="Times New Roman" panose="02020603050405020304" pitchFamily="18" charset="0"/>
                <a:cs typeface="Times New Roman" panose="02020603050405020304" pitchFamily="18" charset="0"/>
              </a:rPr>
              <a:t>Maintain high availability. </a:t>
            </a:r>
          </a:p>
          <a:p>
            <a:endParaRPr lang="en-US" dirty="0"/>
          </a:p>
          <a:p>
            <a:endParaRPr lang="en-US" dirty="0"/>
          </a:p>
        </p:txBody>
      </p:sp>
    </p:spTree>
    <p:extLst>
      <p:ext uri="{BB962C8B-B14F-4D97-AF65-F5344CB8AC3E}">
        <p14:creationId xmlns:p14="http://schemas.microsoft.com/office/powerpoint/2010/main" val="1465401937"/>
      </p:ext>
    </p:extLst>
  </p:cSld>
  <p:clrMapOvr>
    <a:masterClrMapping/>
  </p:clrMapOvr>
  <p:transition spd="slow">
    <p:push dir="u"/>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Challenges Between Dev and Ops</a:t>
            </a:r>
          </a:p>
        </p:txBody>
      </p:sp>
      <p:sp>
        <p:nvSpPr>
          <p:cNvPr id="3" name="Content Placeholder 2"/>
          <p:cNvSpPr>
            <a:spLocks noGrp="1"/>
          </p:cNvSpPr>
          <p:nvPr>
            <p:ph idx="1"/>
          </p:nvPr>
        </p:nvSpPr>
        <p:spPr>
          <a:xfrm>
            <a:off x="913795" y="2076450"/>
            <a:ext cx="10353762" cy="4476750"/>
          </a:xfrm>
        </p:spPr>
        <p:txBody>
          <a:bodyPr>
            <a:normAutofit fontScale="77500" lnSpcReduction="20000"/>
          </a:bodyPr>
          <a:lstStyle/>
          <a:p>
            <a:r>
              <a:rPr lang="en-US" b="1" dirty="0"/>
              <a:t>Why Did Problems Occur?</a:t>
            </a:r>
          </a:p>
          <a:p>
            <a:r>
              <a:rPr lang="en-US" dirty="0"/>
              <a:t>Before DevOps, Development and Operations teams had different goals.</a:t>
            </a:r>
          </a:p>
          <a:p>
            <a:r>
              <a:rPr lang="en-US" b="1" dirty="0"/>
              <a:t>Development Team Wants</a:t>
            </a:r>
          </a:p>
          <a:p>
            <a:r>
              <a:rPr lang="en-US" dirty="0"/>
              <a:t>New features. </a:t>
            </a:r>
          </a:p>
          <a:p>
            <a:r>
              <a:rPr lang="en-US" dirty="0"/>
              <a:t>Fast coding. </a:t>
            </a:r>
          </a:p>
          <a:p>
            <a:r>
              <a:rPr lang="en-US" dirty="0"/>
              <a:t>Quick software release. </a:t>
            </a:r>
          </a:p>
          <a:p>
            <a:r>
              <a:rPr lang="en-US" b="1" dirty="0"/>
              <a:t>Operations Team Wants</a:t>
            </a:r>
          </a:p>
          <a:p>
            <a:r>
              <a:rPr lang="en-US" dirty="0"/>
              <a:t>Stable systems. </a:t>
            </a:r>
          </a:p>
          <a:p>
            <a:r>
              <a:rPr lang="en-US" dirty="0"/>
              <a:t>Fewer failures. </a:t>
            </a:r>
          </a:p>
          <a:p>
            <a:r>
              <a:rPr lang="en-US" dirty="0"/>
              <a:t>Secure deployments. </a:t>
            </a:r>
          </a:p>
          <a:p>
            <a:r>
              <a:rPr lang="en-US" dirty="0"/>
              <a:t>Because their priorities were different, conflicts often occurred.</a:t>
            </a:r>
          </a:p>
          <a:p>
            <a:endParaRPr lang="en-US" dirty="0"/>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l="15978" t="26919" r="40772" b="18350"/>
          <a:stretch/>
        </p:blipFill>
        <p:spPr>
          <a:xfrm>
            <a:off x="5957456" y="2757054"/>
            <a:ext cx="5971310" cy="3029383"/>
          </a:xfrm>
          <a:prstGeom prst="rect">
            <a:avLst/>
          </a:prstGeom>
        </p:spPr>
      </p:pic>
    </p:spTree>
    <p:extLst>
      <p:ext uri="{BB962C8B-B14F-4D97-AF65-F5344CB8AC3E}">
        <p14:creationId xmlns:p14="http://schemas.microsoft.com/office/powerpoint/2010/main" val="4092215047"/>
      </p:ext>
    </p:extLst>
  </p:cSld>
  <p:clrMapOvr>
    <a:masterClrMapping/>
  </p:clrMapOvr>
  <p:transition spd="slow">
    <p:push dir="u"/>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Common Challenges</a:t>
            </a:r>
          </a:p>
        </p:txBody>
      </p:sp>
      <p:sp>
        <p:nvSpPr>
          <p:cNvPr id="3" name="Content Placeholder 2"/>
          <p:cNvSpPr>
            <a:spLocks noGrp="1"/>
          </p:cNvSpPr>
          <p:nvPr>
            <p:ph idx="1"/>
          </p:nvPr>
        </p:nvSpPr>
        <p:spPr>
          <a:xfrm>
            <a:off x="913795" y="2076450"/>
            <a:ext cx="10353762" cy="4462896"/>
          </a:xfrm>
        </p:spPr>
        <p:txBody>
          <a:bodyPr>
            <a:normAutofit fontScale="92500" lnSpcReduction="20000"/>
          </a:bodyPr>
          <a:lstStyle/>
          <a:p>
            <a:r>
              <a:rPr lang="en-US" b="1" dirty="0"/>
              <a:t>1. Poor Communication</a:t>
            </a:r>
          </a:p>
          <a:p>
            <a:r>
              <a:rPr lang="en-US" dirty="0"/>
              <a:t>Developers and Operations teams communicated only when deployment was required.</a:t>
            </a:r>
          </a:p>
          <a:p>
            <a:r>
              <a:rPr lang="en-US" dirty="0"/>
              <a:t>Important information was often missed.</a:t>
            </a:r>
          </a:p>
          <a:p>
            <a:r>
              <a:rPr lang="en-US" b="1" dirty="0"/>
              <a:t>2. Slow Deployment</a:t>
            </a:r>
          </a:p>
          <a:p>
            <a:r>
              <a:rPr lang="en-US" dirty="0"/>
              <a:t>Deployment was mostly manual.</a:t>
            </a:r>
          </a:p>
          <a:p>
            <a:r>
              <a:rPr lang="en-US" dirty="0"/>
              <a:t>It took hours or even days to release software.</a:t>
            </a:r>
          </a:p>
          <a:p>
            <a:r>
              <a:rPr lang="en-US" b="1" dirty="0"/>
              <a:t>3. Different Priorities</a:t>
            </a:r>
          </a:p>
          <a:p>
            <a:r>
              <a:rPr lang="en-US" dirty="0"/>
              <a:t>Developers wanted speed.</a:t>
            </a:r>
          </a:p>
          <a:p>
            <a:r>
              <a:rPr lang="en-US" dirty="0"/>
              <a:t>Operations wanted stability.</a:t>
            </a:r>
          </a:p>
          <a:p>
            <a:r>
              <a:rPr lang="en-US" dirty="0"/>
              <a:t>Balancing both objectives was difficult.</a:t>
            </a:r>
          </a:p>
          <a:p>
            <a:endParaRPr lang="en-US" dirty="0"/>
          </a:p>
        </p:txBody>
      </p:sp>
    </p:spTree>
    <p:extLst>
      <p:ext uri="{BB962C8B-B14F-4D97-AF65-F5344CB8AC3E}">
        <p14:creationId xmlns:p14="http://schemas.microsoft.com/office/powerpoint/2010/main" val="2330262488"/>
      </p:ext>
    </p:extLst>
  </p:cSld>
  <p:clrMapOvr>
    <a:masterClrMapping/>
  </p:clrMapOvr>
  <p:transition spd="slow">
    <p:push dir="u"/>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3795" y="1163782"/>
            <a:ext cx="10353762" cy="4627417"/>
          </a:xfrm>
        </p:spPr>
        <p:txBody>
          <a:bodyPr>
            <a:normAutofit/>
          </a:bodyPr>
          <a:lstStyle/>
          <a:p>
            <a:r>
              <a:rPr lang="en-US" dirty="0"/>
              <a:t>4. Blame </a:t>
            </a:r>
            <a:r>
              <a:rPr lang="en-US" dirty="0" smtClean="0"/>
              <a:t>Culture:</a:t>
            </a:r>
          </a:p>
          <a:p>
            <a:r>
              <a:rPr lang="en-US" dirty="0" smtClean="0"/>
              <a:t>If </a:t>
            </a:r>
            <a:r>
              <a:rPr lang="en-US" dirty="0"/>
              <a:t>deployment failed</a:t>
            </a:r>
            <a:r>
              <a:rPr lang="en-US" dirty="0" smtClean="0"/>
              <a:t>: Developers </a:t>
            </a:r>
            <a:r>
              <a:rPr lang="en-US" dirty="0"/>
              <a:t>said</a:t>
            </a:r>
            <a:r>
              <a:rPr lang="en-US" dirty="0" smtClean="0"/>
              <a:t>, "</a:t>
            </a:r>
            <a:r>
              <a:rPr lang="en-US" dirty="0"/>
              <a:t>The code works on my computer</a:t>
            </a:r>
            <a:r>
              <a:rPr lang="en-US" dirty="0" smtClean="0"/>
              <a:t>.“</a:t>
            </a:r>
          </a:p>
          <a:p>
            <a:r>
              <a:rPr lang="en-US" dirty="0" smtClean="0"/>
              <a:t>Operations </a:t>
            </a:r>
            <a:r>
              <a:rPr lang="en-US" dirty="0"/>
              <a:t>replied</a:t>
            </a:r>
            <a:r>
              <a:rPr lang="en-US" dirty="0" smtClean="0"/>
              <a:t>, "</a:t>
            </a:r>
            <a:r>
              <a:rPr lang="en-US" dirty="0"/>
              <a:t>The application fails on the production server</a:t>
            </a:r>
            <a:r>
              <a:rPr lang="en-US" dirty="0" smtClean="0"/>
              <a:t>.“</a:t>
            </a:r>
          </a:p>
          <a:p>
            <a:r>
              <a:rPr lang="en-US" dirty="0" smtClean="0"/>
              <a:t>Instead </a:t>
            </a:r>
            <a:r>
              <a:rPr lang="en-US" dirty="0"/>
              <a:t>of solving the issue together, teams blamed each other</a:t>
            </a:r>
            <a:r>
              <a:rPr lang="en-US" dirty="0" smtClean="0"/>
              <a:t>.</a:t>
            </a:r>
          </a:p>
          <a:p>
            <a:r>
              <a:rPr lang="en-US" b="1" dirty="0"/>
              <a:t>5. Manual Work</a:t>
            </a:r>
          </a:p>
          <a:p>
            <a:r>
              <a:rPr lang="en-US" dirty="0"/>
              <a:t>Many deployment activities were performed manually.</a:t>
            </a:r>
          </a:p>
          <a:p>
            <a:r>
              <a:rPr lang="en-US" dirty="0"/>
              <a:t>Manual processes increased the chances of mistakes.</a:t>
            </a:r>
          </a:p>
          <a:p>
            <a:endParaRPr lang="en-US" dirty="0"/>
          </a:p>
        </p:txBody>
      </p:sp>
    </p:spTree>
    <p:extLst>
      <p:ext uri="{BB962C8B-B14F-4D97-AF65-F5344CB8AC3E}">
        <p14:creationId xmlns:p14="http://schemas.microsoft.com/office/powerpoint/2010/main" val="516043499"/>
      </p:ext>
    </p:extLst>
  </p:cSld>
  <p:clrMapOvr>
    <a:masterClrMapping/>
  </p:clrMapOvr>
  <p:transition spd="slow">
    <p:push dir="u"/>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DevOps Solves These Problems</a:t>
            </a:r>
          </a:p>
        </p:txBody>
      </p:sp>
      <p:sp>
        <p:nvSpPr>
          <p:cNvPr id="5" name="Content Placeholder 4"/>
          <p:cNvSpPr>
            <a:spLocks noGrp="1"/>
          </p:cNvSpPr>
          <p:nvPr>
            <p:ph idx="1"/>
          </p:nvPr>
        </p:nvSpPr>
        <p:spPr>
          <a:xfrm>
            <a:off x="913795" y="2076450"/>
            <a:ext cx="10353762" cy="4781550"/>
          </a:xfrm>
        </p:spPr>
        <p:txBody>
          <a:bodyPr>
            <a:normAutofit fontScale="85000" lnSpcReduction="20000"/>
          </a:bodyPr>
          <a:lstStyle/>
          <a:p>
            <a:r>
              <a:rPr lang="en-US" b="1" dirty="0"/>
              <a:t>DevOps Solution</a:t>
            </a:r>
          </a:p>
          <a:p>
            <a:r>
              <a:rPr lang="en-US" dirty="0"/>
              <a:t>DevOps brings Development and Operations together as one team.</a:t>
            </a:r>
          </a:p>
          <a:p>
            <a:r>
              <a:rPr lang="en-US" b="1" dirty="0"/>
              <a:t>DevOps (Running the App)</a:t>
            </a:r>
          </a:p>
          <a:p>
            <a:r>
              <a:rPr lang="en-US" dirty="0"/>
              <a:t>After the app is developed:</a:t>
            </a:r>
          </a:p>
          <a:p>
            <a:r>
              <a:rPr lang="en-US" dirty="0"/>
              <a:t>Developers push new code to </a:t>
            </a:r>
            <a:r>
              <a:rPr lang="en-US" dirty="0" err="1"/>
              <a:t>Git</a:t>
            </a:r>
            <a:r>
              <a:rPr lang="en-US" dirty="0"/>
              <a:t>. </a:t>
            </a:r>
          </a:p>
          <a:p>
            <a:r>
              <a:rPr lang="en-US" dirty="0"/>
              <a:t>Jenkins automatically builds and tests it. </a:t>
            </a:r>
          </a:p>
          <a:p>
            <a:r>
              <a:rPr lang="en-US" dirty="0"/>
              <a:t>Docker packages the application. </a:t>
            </a:r>
          </a:p>
          <a:p>
            <a:r>
              <a:rPr lang="en-US" dirty="0"/>
              <a:t>Kubernetes deploys it to servers. </a:t>
            </a:r>
          </a:p>
          <a:p>
            <a:r>
              <a:rPr lang="en-US" dirty="0"/>
              <a:t>Monitoring tools check if the app is healthy. </a:t>
            </a:r>
          </a:p>
          <a:p>
            <a:r>
              <a:rPr lang="en-US" dirty="0"/>
              <a:t>If an issue occurs, DevOps quickly rolls back to the previous version. </a:t>
            </a:r>
          </a:p>
          <a:p>
            <a:r>
              <a:rPr lang="en-US" b="1" dirty="0"/>
              <a:t>This is DevOps.</a:t>
            </a:r>
            <a:endParaRPr lang="en-US" dirty="0"/>
          </a:p>
          <a:p>
            <a:endParaRPr lang="en-US" dirty="0"/>
          </a:p>
        </p:txBody>
      </p:sp>
      <p:pic>
        <p:nvPicPr>
          <p:cNvPr id="7" name="Picture 6"/>
          <p:cNvPicPr>
            <a:picLocks noChangeAspect="1"/>
          </p:cNvPicPr>
          <p:nvPr/>
        </p:nvPicPr>
        <p:blipFill>
          <a:blip r:embed="rId2"/>
          <a:stretch>
            <a:fillRect/>
          </a:stretch>
        </p:blipFill>
        <p:spPr>
          <a:xfrm>
            <a:off x="8243454" y="3100684"/>
            <a:ext cx="3727359" cy="2733082"/>
          </a:xfrm>
          <a:prstGeom prst="rect">
            <a:avLst/>
          </a:prstGeom>
        </p:spPr>
      </p:pic>
    </p:spTree>
    <p:extLst>
      <p:ext uri="{BB962C8B-B14F-4D97-AF65-F5344CB8AC3E}">
        <p14:creationId xmlns:p14="http://schemas.microsoft.com/office/powerpoint/2010/main" val="2082392659"/>
      </p:ext>
    </p:extLst>
  </p:cSld>
  <p:clrMapOvr>
    <a:masterClrMapping/>
  </p:clrMapOvr>
  <p:transition spd="slow">
    <p:push dir="u"/>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249382"/>
            <a:ext cx="10353762" cy="1257300"/>
          </a:xfrm>
        </p:spPr>
        <p:txBody>
          <a:bodyPr>
            <a:normAutofit fontScale="90000"/>
          </a:bodyPr>
          <a:lstStyle/>
          <a:p>
            <a:r>
              <a:rPr lang="en-US" dirty="0"/>
              <a:t>Traditional SDLC Models (Waterfall &amp; V-Model)</a:t>
            </a:r>
          </a:p>
        </p:txBody>
      </p:sp>
      <p:sp>
        <p:nvSpPr>
          <p:cNvPr id="3" name="Content Placeholder 2"/>
          <p:cNvSpPr>
            <a:spLocks noGrp="1"/>
          </p:cNvSpPr>
          <p:nvPr>
            <p:ph idx="1"/>
          </p:nvPr>
        </p:nvSpPr>
        <p:spPr>
          <a:xfrm>
            <a:off x="913795" y="1302328"/>
            <a:ext cx="10353762" cy="5389418"/>
          </a:xfrm>
        </p:spPr>
        <p:txBody>
          <a:bodyPr>
            <a:normAutofit fontScale="70000" lnSpcReduction="20000"/>
          </a:bodyPr>
          <a:lstStyle/>
          <a:p>
            <a:r>
              <a:rPr lang="en-US" dirty="0"/>
              <a:t>Waterfall </a:t>
            </a:r>
            <a:r>
              <a:rPr lang="en-US" dirty="0" smtClean="0"/>
              <a:t>Model</a:t>
            </a:r>
          </a:p>
          <a:p>
            <a:r>
              <a:rPr lang="en-US" b="1" dirty="0"/>
              <a:t>Definition:</a:t>
            </a:r>
            <a:r>
              <a:rPr lang="en-US" dirty="0"/>
              <a:t/>
            </a:r>
            <a:br>
              <a:rPr lang="en-US" dirty="0"/>
            </a:br>
            <a:r>
              <a:rPr lang="en-US" dirty="0"/>
              <a:t>The </a:t>
            </a:r>
            <a:r>
              <a:rPr lang="en-US" b="1" dirty="0"/>
              <a:t>Waterfall Model</a:t>
            </a:r>
            <a:r>
              <a:rPr lang="en-US" dirty="0"/>
              <a:t> is a </a:t>
            </a:r>
            <a:r>
              <a:rPr lang="en-US" b="1" dirty="0"/>
              <a:t>linear and sequential</a:t>
            </a:r>
            <a:r>
              <a:rPr lang="en-US" dirty="0"/>
              <a:t> software development model where each phase must be completed before moving to the next</a:t>
            </a:r>
            <a:r>
              <a:rPr lang="en-US" dirty="0" smtClean="0"/>
              <a:t>.</a:t>
            </a:r>
          </a:p>
          <a:p>
            <a:r>
              <a:rPr lang="en-US" b="1" dirty="0"/>
              <a:t>Phases:</a:t>
            </a:r>
            <a:endParaRPr lang="en-US" dirty="0"/>
          </a:p>
          <a:p>
            <a:r>
              <a:rPr lang="en-US" dirty="0"/>
              <a:t>Requirement Analysis </a:t>
            </a:r>
          </a:p>
          <a:p>
            <a:r>
              <a:rPr lang="en-US" dirty="0"/>
              <a:t>System Design </a:t>
            </a:r>
          </a:p>
          <a:p>
            <a:r>
              <a:rPr lang="en-US" dirty="0"/>
              <a:t>Implementation (Coding) </a:t>
            </a:r>
          </a:p>
          <a:p>
            <a:r>
              <a:rPr lang="en-US" dirty="0"/>
              <a:t>Testing </a:t>
            </a:r>
          </a:p>
          <a:p>
            <a:r>
              <a:rPr lang="en-US" dirty="0"/>
              <a:t>Deployment </a:t>
            </a:r>
          </a:p>
          <a:p>
            <a:r>
              <a:rPr lang="en-US" dirty="0"/>
              <a:t>Maintenance </a:t>
            </a:r>
          </a:p>
          <a:p>
            <a:r>
              <a:rPr lang="en-US" b="1" dirty="0"/>
              <a:t>Characteristics:</a:t>
            </a:r>
            <a:endParaRPr lang="en-US" dirty="0"/>
          </a:p>
          <a:p>
            <a:r>
              <a:rPr lang="en-US" dirty="0"/>
              <a:t>Sequential process (one phase after another) </a:t>
            </a:r>
          </a:p>
          <a:p>
            <a:r>
              <a:rPr lang="en-US" dirty="0"/>
              <a:t>No going back to previous phases easily </a:t>
            </a:r>
          </a:p>
          <a:p>
            <a:r>
              <a:rPr lang="en-US" dirty="0"/>
              <a:t>Best when requirements are fixed and clear </a:t>
            </a:r>
          </a:p>
          <a:p>
            <a:r>
              <a:rPr lang="en-US" dirty="0"/>
              <a:t>Documentation is extensive</a:t>
            </a:r>
          </a:p>
          <a:p>
            <a:endParaRPr lang="en-US" dirty="0"/>
          </a:p>
        </p:txBody>
      </p:sp>
    </p:spTree>
    <p:extLst>
      <p:ext uri="{BB962C8B-B14F-4D97-AF65-F5344CB8AC3E}">
        <p14:creationId xmlns:p14="http://schemas.microsoft.com/office/powerpoint/2010/main" val="2970216798"/>
      </p:ext>
    </p:extLst>
  </p:cSld>
  <p:clrMapOvr>
    <a:masterClrMapping/>
  </p:clrMapOvr>
  <p:transition spd="slow">
    <p:push dir="u"/>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3795" y="651164"/>
            <a:ext cx="10353762" cy="5140035"/>
          </a:xfrm>
        </p:spPr>
        <p:txBody>
          <a:bodyPr>
            <a:normAutofit/>
          </a:bodyPr>
          <a:lstStyle/>
          <a:p>
            <a:r>
              <a:rPr lang="en-US" b="1" dirty="0"/>
              <a:t>Advantages:</a:t>
            </a:r>
            <a:endParaRPr lang="en-US" dirty="0"/>
          </a:p>
          <a:p>
            <a:r>
              <a:rPr lang="en-US" dirty="0"/>
              <a:t>Simple and easy to understand </a:t>
            </a:r>
          </a:p>
          <a:p>
            <a:r>
              <a:rPr lang="en-US" dirty="0"/>
              <a:t>Easy to manage </a:t>
            </a:r>
          </a:p>
          <a:p>
            <a:r>
              <a:rPr lang="en-US" dirty="0"/>
              <a:t>Well-defined stages </a:t>
            </a:r>
          </a:p>
          <a:p>
            <a:r>
              <a:rPr lang="en-US" b="1" dirty="0"/>
              <a:t>Disadvantages:</a:t>
            </a:r>
            <a:endParaRPr lang="en-US" dirty="0"/>
          </a:p>
          <a:p>
            <a:r>
              <a:rPr lang="en-US" dirty="0"/>
              <a:t>Difficult to make changes later </a:t>
            </a:r>
          </a:p>
          <a:p>
            <a:r>
              <a:rPr lang="en-US" dirty="0"/>
              <a:t>Customer sees the product only at the end </a:t>
            </a:r>
          </a:p>
          <a:p>
            <a:r>
              <a:rPr lang="en-US" dirty="0"/>
              <a:t>Bugs may be found late </a:t>
            </a:r>
          </a:p>
          <a:p>
            <a:endParaRPr lang="en-US" dirty="0"/>
          </a:p>
        </p:txBody>
      </p:sp>
      <p:pic>
        <p:nvPicPr>
          <p:cNvPr id="4" name="Picture 3"/>
          <p:cNvPicPr>
            <a:picLocks noChangeAspect="1"/>
          </p:cNvPicPr>
          <p:nvPr/>
        </p:nvPicPr>
        <p:blipFill rotWithShape="1">
          <a:blip r:embed="rId2"/>
          <a:srcRect l="5706"/>
          <a:stretch/>
        </p:blipFill>
        <p:spPr>
          <a:xfrm>
            <a:off x="6580909" y="914401"/>
            <a:ext cx="5494800" cy="4558144"/>
          </a:xfrm>
          <a:prstGeom prst="rect">
            <a:avLst/>
          </a:prstGeom>
        </p:spPr>
      </p:pic>
    </p:spTree>
    <p:extLst>
      <p:ext uri="{BB962C8B-B14F-4D97-AF65-F5344CB8AC3E}">
        <p14:creationId xmlns:p14="http://schemas.microsoft.com/office/powerpoint/2010/main" val="2679472313"/>
      </p:ext>
    </p:extLst>
  </p:cSld>
  <p:clrMapOvr>
    <a:masterClrMapping/>
  </p:clrMapOvr>
  <p:transition spd="slow">
    <p:push dir="u"/>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V-Model (Verification and Validation Model)</a:t>
            </a:r>
          </a:p>
        </p:txBody>
      </p:sp>
      <p:sp>
        <p:nvSpPr>
          <p:cNvPr id="3" name="Content Placeholder 2"/>
          <p:cNvSpPr>
            <a:spLocks noGrp="1"/>
          </p:cNvSpPr>
          <p:nvPr>
            <p:ph idx="1"/>
          </p:nvPr>
        </p:nvSpPr>
        <p:spPr>
          <a:xfrm>
            <a:off x="913795" y="2076450"/>
            <a:ext cx="10353762" cy="4449041"/>
          </a:xfrm>
        </p:spPr>
        <p:txBody>
          <a:bodyPr>
            <a:normAutofit lnSpcReduction="10000"/>
          </a:bodyPr>
          <a:lstStyle/>
          <a:p>
            <a:r>
              <a:rPr lang="en-US" b="1" dirty="0"/>
              <a:t>Definition:</a:t>
            </a:r>
            <a:r>
              <a:rPr lang="en-US" dirty="0"/>
              <a:t/>
            </a:r>
            <a:br>
              <a:rPr lang="en-US" dirty="0"/>
            </a:br>
            <a:r>
              <a:rPr lang="en-US" dirty="0"/>
              <a:t>The </a:t>
            </a:r>
            <a:r>
              <a:rPr lang="en-US" b="1" dirty="0"/>
              <a:t>V-Model</a:t>
            </a:r>
            <a:r>
              <a:rPr lang="en-US" dirty="0"/>
              <a:t> is an extension of the Waterfall model where </a:t>
            </a:r>
            <a:r>
              <a:rPr lang="en-US" b="1" dirty="0"/>
              <a:t>each development phase has a corresponding testing phase</a:t>
            </a:r>
            <a:r>
              <a:rPr lang="en-US" dirty="0"/>
              <a:t>.</a:t>
            </a:r>
          </a:p>
          <a:p>
            <a:r>
              <a:rPr lang="en-US" b="1" dirty="0"/>
              <a:t>Development Phase → Testing Phase</a:t>
            </a:r>
            <a:endParaRPr lang="en-US" dirty="0"/>
          </a:p>
          <a:p>
            <a:r>
              <a:rPr lang="en-US" dirty="0"/>
              <a:t>Requirements → Acceptance Testing </a:t>
            </a:r>
          </a:p>
          <a:p>
            <a:r>
              <a:rPr lang="en-US" dirty="0"/>
              <a:t>System Design → System Testing </a:t>
            </a:r>
          </a:p>
          <a:p>
            <a:r>
              <a:rPr lang="en-US" dirty="0"/>
              <a:t>Architecture Design → Integration Testing </a:t>
            </a:r>
          </a:p>
          <a:p>
            <a:r>
              <a:rPr lang="en-US" dirty="0"/>
              <a:t>Module Design → Unit Testing </a:t>
            </a:r>
          </a:p>
          <a:p>
            <a:r>
              <a:rPr lang="en-US" dirty="0"/>
              <a:t>Coding → (Center of the V)</a:t>
            </a:r>
          </a:p>
          <a:p>
            <a:endParaRPr lang="en-US" dirty="0"/>
          </a:p>
        </p:txBody>
      </p:sp>
    </p:spTree>
    <p:extLst>
      <p:ext uri="{BB962C8B-B14F-4D97-AF65-F5344CB8AC3E}">
        <p14:creationId xmlns:p14="http://schemas.microsoft.com/office/powerpoint/2010/main" val="55281316"/>
      </p:ext>
    </p:extLst>
  </p:cSld>
  <p:clrMapOvr>
    <a:masterClrMapping/>
  </p:clrMapOvr>
  <p:transition spd="slow">
    <p:push dir="u"/>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3795" y="568036"/>
            <a:ext cx="10353762" cy="6082146"/>
          </a:xfrm>
        </p:spPr>
        <p:txBody>
          <a:bodyPr>
            <a:normAutofit lnSpcReduction="10000"/>
          </a:bodyPr>
          <a:lstStyle/>
          <a:p>
            <a:r>
              <a:rPr lang="en-US" b="1" dirty="0"/>
              <a:t>Characteristics:</a:t>
            </a:r>
            <a:endParaRPr lang="en-US" dirty="0"/>
          </a:p>
          <a:p>
            <a:r>
              <a:rPr lang="en-US" dirty="0"/>
              <a:t>Testing is planned from the beginning </a:t>
            </a:r>
          </a:p>
          <a:p>
            <a:r>
              <a:rPr lang="en-US" dirty="0"/>
              <a:t>Verification and validation happen at every stage </a:t>
            </a:r>
          </a:p>
          <a:p>
            <a:r>
              <a:rPr lang="en-US" dirty="0"/>
              <a:t>Suitable for projects requiring high quality and reliability</a:t>
            </a:r>
          </a:p>
          <a:p>
            <a:r>
              <a:rPr lang="en-US" b="1" dirty="0"/>
              <a:t>Advantages:</a:t>
            </a:r>
            <a:endParaRPr lang="en-US" dirty="0"/>
          </a:p>
          <a:p>
            <a:r>
              <a:rPr lang="en-US" dirty="0"/>
              <a:t>Early test planning </a:t>
            </a:r>
          </a:p>
          <a:p>
            <a:r>
              <a:rPr lang="en-US" dirty="0"/>
              <a:t>Better software quality </a:t>
            </a:r>
          </a:p>
          <a:p>
            <a:r>
              <a:rPr lang="en-US" dirty="0"/>
              <a:t>Easier defect detection </a:t>
            </a:r>
          </a:p>
          <a:p>
            <a:r>
              <a:rPr lang="en-US" b="1" dirty="0"/>
              <a:t>Disadvantages:</a:t>
            </a:r>
            <a:endParaRPr lang="en-US" dirty="0"/>
          </a:p>
          <a:p>
            <a:r>
              <a:rPr lang="en-US" dirty="0"/>
              <a:t>Rigid model </a:t>
            </a:r>
          </a:p>
          <a:p>
            <a:r>
              <a:rPr lang="en-US" dirty="0"/>
              <a:t>Changes are difficult </a:t>
            </a:r>
          </a:p>
          <a:p>
            <a:r>
              <a:rPr lang="en-US" dirty="0"/>
              <a:t>Not suitable when requirements change frequently</a:t>
            </a:r>
          </a:p>
          <a:p>
            <a:endParaRPr lang="en-US" dirty="0"/>
          </a:p>
        </p:txBody>
      </p:sp>
    </p:spTree>
    <p:extLst>
      <p:ext uri="{BB962C8B-B14F-4D97-AF65-F5344CB8AC3E}">
        <p14:creationId xmlns:p14="http://schemas.microsoft.com/office/powerpoint/2010/main" val="2182273069"/>
      </p:ext>
    </p:extLst>
  </p:cSld>
  <p:clrMapOvr>
    <a:masterClrMapping/>
  </p:clrMapOvr>
  <p:transition spd="slow">
    <p:push dir="u"/>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9407841" cy="1257300"/>
          </a:xfrm>
        </p:spPr>
        <p:txBody>
          <a:bodyPr/>
          <a:lstStyle/>
          <a:p>
            <a:r>
              <a:rPr lang="en-US" dirty="0"/>
              <a:t>Waterfall vs V-Model</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938676611"/>
              </p:ext>
            </p:extLst>
          </p:nvPr>
        </p:nvGraphicFramePr>
        <p:xfrm>
          <a:off x="1709800" y="2076449"/>
          <a:ext cx="8762874" cy="4365914"/>
        </p:xfrm>
        <a:graphic>
          <a:graphicData uri="http://schemas.openxmlformats.org/drawingml/2006/table">
            <a:tbl>
              <a:tblPr>
                <a:tableStyleId>{08FB837D-C827-4EFA-A057-4D05807E0F7C}</a:tableStyleId>
              </a:tblPr>
              <a:tblGrid>
                <a:gridCol w="2920958">
                  <a:extLst>
                    <a:ext uri="{9D8B030D-6E8A-4147-A177-3AD203B41FA5}">
                      <a16:colId xmlns:a16="http://schemas.microsoft.com/office/drawing/2014/main" val="951142195"/>
                    </a:ext>
                  </a:extLst>
                </a:gridCol>
                <a:gridCol w="2920958">
                  <a:extLst>
                    <a:ext uri="{9D8B030D-6E8A-4147-A177-3AD203B41FA5}">
                      <a16:colId xmlns:a16="http://schemas.microsoft.com/office/drawing/2014/main" val="2868809099"/>
                    </a:ext>
                  </a:extLst>
                </a:gridCol>
                <a:gridCol w="2920958">
                  <a:extLst>
                    <a:ext uri="{9D8B030D-6E8A-4147-A177-3AD203B41FA5}">
                      <a16:colId xmlns:a16="http://schemas.microsoft.com/office/drawing/2014/main" val="1293705209"/>
                    </a:ext>
                  </a:extLst>
                </a:gridCol>
              </a:tblGrid>
              <a:tr h="636696">
                <a:tc>
                  <a:txBody>
                    <a:bodyPr/>
                    <a:lstStyle/>
                    <a:p>
                      <a:r>
                        <a:rPr lang="en-US" sz="1500" dirty="0"/>
                        <a:t>Development Phase (Verification)</a:t>
                      </a:r>
                    </a:p>
                  </a:txBody>
                  <a:tcPr marL="77391" marR="77391" marT="38695" marB="38695" anchor="ctr"/>
                </a:tc>
                <a:tc>
                  <a:txBody>
                    <a:bodyPr/>
                    <a:lstStyle/>
                    <a:p>
                      <a:r>
                        <a:rPr lang="en-US" sz="1500" dirty="0"/>
                        <a:t>Corresponding Testing Phase (Validation)</a:t>
                      </a:r>
                    </a:p>
                  </a:txBody>
                  <a:tcPr marL="77391" marR="77391" marT="38695" marB="38695" anchor="ctr"/>
                </a:tc>
                <a:tc>
                  <a:txBody>
                    <a:bodyPr/>
                    <a:lstStyle/>
                    <a:p>
                      <a:r>
                        <a:rPr lang="en-US" sz="1500"/>
                        <a:t>Explanation</a:t>
                      </a:r>
                    </a:p>
                  </a:txBody>
                  <a:tcPr marL="77391" marR="77391" marT="38695" marB="38695" anchor="ctr"/>
                </a:tc>
                <a:extLst>
                  <a:ext uri="{0D108BD9-81ED-4DB2-BD59-A6C34878D82A}">
                    <a16:rowId xmlns:a16="http://schemas.microsoft.com/office/drawing/2014/main" val="1123658215"/>
                  </a:ext>
                </a:extLst>
              </a:tr>
              <a:tr h="636696">
                <a:tc>
                  <a:txBody>
                    <a:bodyPr/>
                    <a:lstStyle/>
                    <a:p>
                      <a:r>
                        <a:rPr lang="en-US" sz="1500"/>
                        <a:t>Requirements Analysis</a:t>
                      </a:r>
                    </a:p>
                  </a:txBody>
                  <a:tcPr marL="77391" marR="77391" marT="38695" marB="38695" anchor="ctr"/>
                </a:tc>
                <a:tc>
                  <a:txBody>
                    <a:bodyPr/>
                    <a:lstStyle/>
                    <a:p>
                      <a:r>
                        <a:rPr lang="en-US" sz="1500"/>
                        <a:t>Acceptance Testing (UAT)</a:t>
                      </a:r>
                    </a:p>
                  </a:txBody>
                  <a:tcPr marL="77391" marR="77391" marT="38695" marB="38695" anchor="ctr"/>
                </a:tc>
                <a:tc>
                  <a:txBody>
                    <a:bodyPr/>
                    <a:lstStyle/>
                    <a:p>
                      <a:r>
                        <a:rPr lang="en-US" sz="1500"/>
                        <a:t>Checks whether the final software meets all customer requirements.</a:t>
                      </a:r>
                    </a:p>
                  </a:txBody>
                  <a:tcPr marL="77391" marR="77391" marT="38695" marB="38695" anchor="ctr"/>
                </a:tc>
                <a:extLst>
                  <a:ext uri="{0D108BD9-81ED-4DB2-BD59-A6C34878D82A}">
                    <a16:rowId xmlns:a16="http://schemas.microsoft.com/office/drawing/2014/main" val="464756287"/>
                  </a:ext>
                </a:extLst>
              </a:tr>
              <a:tr h="636696">
                <a:tc>
                  <a:txBody>
                    <a:bodyPr/>
                    <a:lstStyle/>
                    <a:p>
                      <a:r>
                        <a:rPr lang="en-US" sz="1500"/>
                        <a:t>System Design</a:t>
                      </a:r>
                    </a:p>
                  </a:txBody>
                  <a:tcPr marL="77391" marR="77391" marT="38695" marB="38695" anchor="ctr"/>
                </a:tc>
                <a:tc>
                  <a:txBody>
                    <a:bodyPr/>
                    <a:lstStyle/>
                    <a:p>
                      <a:r>
                        <a:rPr lang="en-US" sz="1500" dirty="0"/>
                        <a:t>System Testing</a:t>
                      </a:r>
                    </a:p>
                  </a:txBody>
                  <a:tcPr marL="77391" marR="77391" marT="38695" marB="38695" anchor="ctr"/>
                </a:tc>
                <a:tc>
                  <a:txBody>
                    <a:bodyPr/>
                    <a:lstStyle/>
                    <a:p>
                      <a:r>
                        <a:rPr lang="en-US" sz="1500"/>
                        <a:t>Tests the complete system to ensure all functionalities work correctly.</a:t>
                      </a:r>
                    </a:p>
                  </a:txBody>
                  <a:tcPr marL="77391" marR="77391" marT="38695" marB="38695" anchor="ctr"/>
                </a:tc>
                <a:extLst>
                  <a:ext uri="{0D108BD9-81ED-4DB2-BD59-A6C34878D82A}">
                    <a16:rowId xmlns:a16="http://schemas.microsoft.com/office/drawing/2014/main" val="3474014072"/>
                  </a:ext>
                </a:extLst>
              </a:tr>
              <a:tr h="909565">
                <a:tc>
                  <a:txBody>
                    <a:bodyPr/>
                    <a:lstStyle/>
                    <a:p>
                      <a:r>
                        <a:rPr lang="en-US" sz="1500" dirty="0"/>
                        <a:t>Architecture (High-Level) Design</a:t>
                      </a:r>
                    </a:p>
                  </a:txBody>
                  <a:tcPr marL="77391" marR="77391" marT="38695" marB="38695" anchor="ctr"/>
                </a:tc>
                <a:tc>
                  <a:txBody>
                    <a:bodyPr/>
                    <a:lstStyle/>
                    <a:p>
                      <a:r>
                        <a:rPr lang="en-US" sz="1500"/>
                        <a:t>Integration Testing</a:t>
                      </a:r>
                    </a:p>
                  </a:txBody>
                  <a:tcPr marL="77391" marR="77391" marT="38695" marB="38695" anchor="ctr"/>
                </a:tc>
                <a:tc>
                  <a:txBody>
                    <a:bodyPr/>
                    <a:lstStyle/>
                    <a:p>
                      <a:r>
                        <a:rPr lang="en-US" sz="1500"/>
                        <a:t>Verifies that different modules/components work together properly.</a:t>
                      </a:r>
                    </a:p>
                  </a:txBody>
                  <a:tcPr marL="77391" marR="77391" marT="38695" marB="38695" anchor="ctr"/>
                </a:tc>
                <a:extLst>
                  <a:ext uri="{0D108BD9-81ED-4DB2-BD59-A6C34878D82A}">
                    <a16:rowId xmlns:a16="http://schemas.microsoft.com/office/drawing/2014/main" val="3535966250"/>
                  </a:ext>
                </a:extLst>
              </a:tr>
              <a:tr h="636696">
                <a:tc>
                  <a:txBody>
                    <a:bodyPr/>
                    <a:lstStyle/>
                    <a:p>
                      <a:r>
                        <a:rPr lang="en-US" sz="1500" dirty="0"/>
                        <a:t>Module (Low-Level) Design</a:t>
                      </a:r>
                    </a:p>
                  </a:txBody>
                  <a:tcPr marL="77391" marR="77391" marT="38695" marB="38695" anchor="ctr"/>
                </a:tc>
                <a:tc>
                  <a:txBody>
                    <a:bodyPr/>
                    <a:lstStyle/>
                    <a:p>
                      <a:r>
                        <a:rPr lang="en-US" sz="1500"/>
                        <a:t>Unit Testing</a:t>
                      </a:r>
                    </a:p>
                  </a:txBody>
                  <a:tcPr marL="77391" marR="77391" marT="38695" marB="38695" anchor="ctr"/>
                </a:tc>
                <a:tc>
                  <a:txBody>
                    <a:bodyPr/>
                    <a:lstStyle/>
                    <a:p>
                      <a:r>
                        <a:rPr lang="en-US" sz="1500"/>
                        <a:t>Tests each individual module or function separately.</a:t>
                      </a:r>
                    </a:p>
                  </a:txBody>
                  <a:tcPr marL="77391" marR="77391" marT="38695" marB="38695" anchor="ctr"/>
                </a:tc>
                <a:extLst>
                  <a:ext uri="{0D108BD9-81ED-4DB2-BD59-A6C34878D82A}">
                    <a16:rowId xmlns:a16="http://schemas.microsoft.com/office/drawing/2014/main" val="1423308672"/>
                  </a:ext>
                </a:extLst>
              </a:tr>
              <a:tr h="909565">
                <a:tc>
                  <a:txBody>
                    <a:bodyPr/>
                    <a:lstStyle/>
                    <a:p>
                      <a:r>
                        <a:rPr lang="en-US" sz="1500"/>
                        <a:t>Coding (Implementation)</a:t>
                      </a:r>
                    </a:p>
                  </a:txBody>
                  <a:tcPr marL="77391" marR="77391" marT="38695" marB="38695" anchor="ctr"/>
                </a:tc>
                <a:tc>
                  <a:txBody>
                    <a:bodyPr/>
                    <a:lstStyle/>
                    <a:p>
                      <a:r>
                        <a:rPr lang="en-US" sz="1500" dirty="0"/>
                        <a:t>Center of the V</a:t>
                      </a:r>
                    </a:p>
                  </a:txBody>
                  <a:tcPr marL="77391" marR="77391" marT="38695" marB="38695" anchor="ctr"/>
                </a:tc>
                <a:tc>
                  <a:txBody>
                    <a:bodyPr/>
                    <a:lstStyle/>
                    <a:p>
                      <a:r>
                        <a:rPr lang="en-US" sz="1500" dirty="0"/>
                        <a:t>Developers write the code. After coding, testing starts from Unit Testing and moves upward.</a:t>
                      </a:r>
                    </a:p>
                  </a:txBody>
                  <a:tcPr marL="77391" marR="77391" marT="38695" marB="38695" anchor="ctr"/>
                </a:tc>
                <a:extLst>
                  <a:ext uri="{0D108BD9-81ED-4DB2-BD59-A6C34878D82A}">
                    <a16:rowId xmlns:a16="http://schemas.microsoft.com/office/drawing/2014/main" val="760167806"/>
                  </a:ext>
                </a:extLst>
              </a:tr>
            </a:tbl>
          </a:graphicData>
        </a:graphic>
      </p:graphicFrame>
    </p:spTree>
    <p:extLst>
      <p:ext uri="{BB962C8B-B14F-4D97-AF65-F5344CB8AC3E}">
        <p14:creationId xmlns:p14="http://schemas.microsoft.com/office/powerpoint/2010/main" val="1228085148"/>
      </p:ext>
    </p:extLst>
  </p:cSld>
  <p:clrMapOvr>
    <a:masterClrMapping/>
  </p:clrMapOvr>
  <p:transition spd="slow">
    <p:push dir="u"/>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DevOps Culture?</a:t>
            </a:r>
          </a:p>
        </p:txBody>
      </p:sp>
      <p:sp>
        <p:nvSpPr>
          <p:cNvPr id="3" name="Content Placeholder 2"/>
          <p:cNvSpPr>
            <a:spLocks noGrp="1"/>
          </p:cNvSpPr>
          <p:nvPr>
            <p:ph idx="1"/>
          </p:nvPr>
        </p:nvSpPr>
        <p:spPr>
          <a:xfrm>
            <a:off x="913795" y="2076450"/>
            <a:ext cx="10353762" cy="4573732"/>
          </a:xfrm>
        </p:spPr>
        <p:txBody>
          <a:bodyPr>
            <a:normAutofit fontScale="85000" lnSpcReduction="20000"/>
          </a:bodyPr>
          <a:lstStyle/>
          <a:p>
            <a:r>
              <a:rPr lang="en-US" b="1" dirty="0">
                <a:latin typeface="Times New Roman" panose="02020603050405020304" pitchFamily="18" charset="0"/>
                <a:cs typeface="Times New Roman" panose="02020603050405020304" pitchFamily="18" charset="0"/>
              </a:rPr>
              <a:t>Introduction</a:t>
            </a:r>
          </a:p>
          <a:p>
            <a:r>
              <a:rPr lang="en-US" dirty="0">
                <a:latin typeface="Times New Roman" panose="02020603050405020304" pitchFamily="18" charset="0"/>
                <a:cs typeface="Times New Roman" panose="02020603050405020304" pitchFamily="18" charset="0"/>
              </a:rPr>
              <a:t>DevOps culture is a way of working where </a:t>
            </a:r>
            <a:r>
              <a:rPr lang="en-US" b="1" dirty="0">
                <a:latin typeface="Times New Roman" panose="02020603050405020304" pitchFamily="18" charset="0"/>
                <a:cs typeface="Times New Roman" panose="02020603050405020304" pitchFamily="18" charset="0"/>
              </a:rPr>
              <a:t>Development (Dev), Operations (Ops), Testing (QA), and Security teams work together</a:t>
            </a:r>
            <a:r>
              <a:rPr lang="en-US" dirty="0">
                <a:latin typeface="Times New Roman" panose="02020603050405020304" pitchFamily="18" charset="0"/>
                <a:cs typeface="Times New Roman" panose="02020603050405020304" pitchFamily="18" charset="0"/>
              </a:rPr>
              <a:t> instead of working separately. The main goal is to </a:t>
            </a:r>
            <a:r>
              <a:rPr lang="en-US" b="1" dirty="0">
                <a:latin typeface="Times New Roman" panose="02020603050405020304" pitchFamily="18" charset="0"/>
                <a:cs typeface="Times New Roman" panose="02020603050405020304" pitchFamily="18" charset="0"/>
              </a:rPr>
              <a:t>deliver software faster with better quality</a:t>
            </a:r>
            <a:r>
              <a:rPr lang="en-US" dirty="0">
                <a:latin typeface="Times New Roman" panose="02020603050405020304" pitchFamily="18" charset="0"/>
                <a:cs typeface="Times New Roman" panose="02020603050405020304" pitchFamily="18" charset="0"/>
              </a:rPr>
              <a:t>. </a:t>
            </a:r>
          </a:p>
          <a:p>
            <a:r>
              <a:rPr lang="en-US" dirty="0" smtClean="0">
                <a:latin typeface="Times New Roman" panose="02020603050405020304" pitchFamily="18" charset="0"/>
                <a:cs typeface="Times New Roman" panose="02020603050405020304" pitchFamily="18" charset="0"/>
              </a:rPr>
              <a:t>DevOps </a:t>
            </a:r>
            <a:r>
              <a:rPr lang="en-US" dirty="0">
                <a:latin typeface="Times New Roman" panose="02020603050405020304" pitchFamily="18" charset="0"/>
                <a:cs typeface="Times New Roman" panose="02020603050405020304" pitchFamily="18" charset="0"/>
              </a:rPr>
              <a:t>is not only about using tools like </a:t>
            </a:r>
            <a:r>
              <a:rPr lang="en-US" b="1" dirty="0" err="1">
                <a:latin typeface="Times New Roman" panose="02020603050405020304" pitchFamily="18" charset="0"/>
                <a:cs typeface="Times New Roman" panose="02020603050405020304" pitchFamily="18" charset="0"/>
              </a:rPr>
              <a:t>Git</a:t>
            </a:r>
            <a:r>
              <a:rPr lang="en-US" b="1" dirty="0">
                <a:latin typeface="Times New Roman" panose="02020603050405020304" pitchFamily="18" charset="0"/>
                <a:cs typeface="Times New Roman" panose="02020603050405020304" pitchFamily="18" charset="0"/>
              </a:rPr>
              <a:t>, Docker, Jenkins, or Kubernetes</a:t>
            </a:r>
            <a:r>
              <a:rPr lang="en-US" dirty="0">
                <a:latin typeface="Times New Roman" panose="02020603050405020304" pitchFamily="18" charset="0"/>
                <a:cs typeface="Times New Roman" panose="02020603050405020304" pitchFamily="18" charset="0"/>
              </a:rPr>
              <a:t>. The most important part of DevOps is </a:t>
            </a:r>
            <a:r>
              <a:rPr lang="en-US" b="1" dirty="0">
                <a:latin typeface="Times New Roman" panose="02020603050405020304" pitchFamily="18" charset="0"/>
                <a:cs typeface="Times New Roman" panose="02020603050405020304" pitchFamily="18" charset="0"/>
              </a:rPr>
              <a:t>Culture</a:t>
            </a:r>
            <a:r>
              <a:rPr lang="en-US" dirty="0">
                <a:latin typeface="Times New Roman" panose="02020603050405020304" pitchFamily="18" charset="0"/>
                <a:cs typeface="Times New Roman" panose="02020603050405020304" pitchFamily="18" charset="0"/>
              </a:rPr>
              <a:t>.</a:t>
            </a:r>
          </a:p>
          <a:p>
            <a:r>
              <a:rPr lang="en-US" b="1" dirty="0">
                <a:latin typeface="Times New Roman" panose="02020603050405020304" pitchFamily="18" charset="0"/>
                <a:cs typeface="Times New Roman" panose="02020603050405020304" pitchFamily="18" charset="0"/>
              </a:rPr>
              <a:t>Culture</a:t>
            </a:r>
            <a:r>
              <a:rPr lang="en-US" dirty="0">
                <a:latin typeface="Times New Roman" panose="02020603050405020304" pitchFamily="18" charset="0"/>
                <a:cs typeface="Times New Roman" panose="02020603050405020304" pitchFamily="18" charset="0"/>
              </a:rPr>
              <a:t> means </a:t>
            </a:r>
            <a:r>
              <a:rPr lang="en-US" b="1" dirty="0">
                <a:latin typeface="Times New Roman" panose="02020603050405020304" pitchFamily="18" charset="0"/>
                <a:cs typeface="Times New Roman" panose="02020603050405020304" pitchFamily="18" charset="0"/>
              </a:rPr>
              <a:t>the way people work, communicate, and solve problems together in an organization.</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Before DevOps, the Development, Testing, and Operations teams worked independently. Each team focused only on its own tasks. This often caused communication gaps, delays, and software failures.</a:t>
            </a:r>
          </a:p>
          <a:p>
            <a:r>
              <a:rPr lang="en-US" dirty="0">
                <a:latin typeface="Times New Roman" panose="02020603050405020304" pitchFamily="18" charset="0"/>
                <a:cs typeface="Times New Roman" panose="02020603050405020304" pitchFamily="18" charset="0"/>
              </a:rPr>
              <a:t>DevOps changes this by creating a culture where everyone works together with a common goal:</a:t>
            </a:r>
          </a:p>
          <a:p>
            <a:r>
              <a:rPr lang="en-US" dirty="0">
                <a:latin typeface="Times New Roman" panose="02020603050405020304" pitchFamily="18" charset="0"/>
                <a:cs typeface="Times New Roman" panose="02020603050405020304" pitchFamily="18" charset="0"/>
              </a:rPr>
              <a:t>Deliver high-quality software quickly and reliably.</a:t>
            </a:r>
          </a:p>
        </p:txBody>
      </p:sp>
    </p:spTree>
    <p:extLst>
      <p:ext uri="{BB962C8B-B14F-4D97-AF65-F5344CB8AC3E}">
        <p14:creationId xmlns:p14="http://schemas.microsoft.com/office/powerpoint/2010/main" val="3847868059"/>
      </p:ext>
    </p:extLst>
  </p:cSld>
  <p:clrMapOvr>
    <a:masterClrMapping/>
  </p:clrMapOvr>
  <p:transition spd="slow">
    <p:push dir="u"/>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Cultural &amp; Organizational Aspects of DevOps </a:t>
            </a:r>
          </a:p>
        </p:txBody>
      </p:sp>
      <p:sp>
        <p:nvSpPr>
          <p:cNvPr id="3" name="Content Placeholder 2"/>
          <p:cNvSpPr>
            <a:spLocks noGrp="1"/>
          </p:cNvSpPr>
          <p:nvPr>
            <p:ph idx="1"/>
          </p:nvPr>
        </p:nvSpPr>
        <p:spPr/>
        <p:txBody>
          <a:bodyPr>
            <a:normAutofit lnSpcReduction="10000"/>
          </a:bodyPr>
          <a:lstStyle/>
          <a:p>
            <a:r>
              <a:rPr lang="en-US" b="1" dirty="0" smtClean="0">
                <a:latin typeface="Times New Roman" panose="02020603050405020304" pitchFamily="18" charset="0"/>
                <a:cs typeface="Times New Roman" panose="02020603050405020304" pitchFamily="18" charset="0"/>
              </a:rPr>
              <a:t>1</a:t>
            </a:r>
            <a:r>
              <a:rPr lang="en-US" b="1" dirty="0">
                <a:latin typeface="Times New Roman" panose="02020603050405020304" pitchFamily="18" charset="0"/>
                <a:cs typeface="Times New Roman" panose="02020603050405020304" pitchFamily="18" charset="0"/>
              </a:rPr>
              <a:t>. Collaboration (Working Together)</a:t>
            </a:r>
          </a:p>
          <a:p>
            <a:r>
              <a:rPr lang="en-US" b="1" dirty="0">
                <a:latin typeface="Times New Roman" panose="02020603050405020304" pitchFamily="18" charset="0"/>
                <a:cs typeface="Times New Roman" panose="02020603050405020304" pitchFamily="18" charset="0"/>
              </a:rPr>
              <a:t>What is Collaboration?</a:t>
            </a:r>
          </a:p>
          <a:p>
            <a:r>
              <a:rPr lang="en-US" dirty="0">
                <a:latin typeface="Times New Roman" panose="02020603050405020304" pitchFamily="18" charset="0"/>
                <a:cs typeface="Times New Roman" panose="02020603050405020304" pitchFamily="18" charset="0"/>
              </a:rPr>
              <a:t>Collaboration means that </a:t>
            </a:r>
            <a:r>
              <a:rPr lang="en-US" b="1" dirty="0">
                <a:latin typeface="Times New Roman" panose="02020603050405020304" pitchFamily="18" charset="0"/>
                <a:cs typeface="Times New Roman" panose="02020603050405020304" pitchFamily="18" charset="0"/>
              </a:rPr>
              <a:t>developers, testers (QA), operations engineers, security teams, and business stakeholders work together as one team</a:t>
            </a:r>
            <a:r>
              <a:rPr lang="en-US" dirty="0">
                <a:latin typeface="Times New Roman" panose="02020603050405020304" pitchFamily="18" charset="0"/>
                <a:cs typeface="Times New Roman" panose="02020603050405020304" pitchFamily="18" charset="0"/>
              </a:rPr>
              <a:t> throughout the Software Development Life Cycle (SDLC). Instead of working in separate departments (called </a:t>
            </a:r>
            <a:r>
              <a:rPr lang="en-US" i="1" dirty="0">
                <a:latin typeface="Times New Roman" panose="02020603050405020304" pitchFamily="18" charset="0"/>
                <a:cs typeface="Times New Roman" panose="02020603050405020304" pitchFamily="18" charset="0"/>
              </a:rPr>
              <a:t>silos</a:t>
            </a:r>
            <a:r>
              <a:rPr lang="en-US" dirty="0">
                <a:latin typeface="Times New Roman" panose="02020603050405020304" pitchFamily="18" charset="0"/>
                <a:cs typeface="Times New Roman" panose="02020603050405020304" pitchFamily="18" charset="0"/>
              </a:rPr>
              <a:t>), everyone shares information, solves problems together, and works toward a common goal of delivering quality software quickly. DevOps emphasizes breaking down these traditional silos through teamwork and shared workflows. </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90712362"/>
      </p:ext>
    </p:extLst>
  </p:cSld>
  <p:clrMapOvr>
    <a:masterClrMapping/>
  </p:clrMapOvr>
  <p:transition spd="slow">
    <p:push dir="u"/>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3795" y="637310"/>
            <a:ext cx="10353762" cy="5666508"/>
          </a:xfrm>
        </p:spPr>
        <p:txBody>
          <a:bodyPr>
            <a:normAutofit lnSpcReduction="10000"/>
          </a:bodyPr>
          <a:lstStyle/>
          <a:p>
            <a:r>
              <a:rPr lang="en-US" b="1" dirty="0">
                <a:latin typeface="Times New Roman" panose="02020603050405020304" pitchFamily="18" charset="0"/>
                <a:cs typeface="Times New Roman" panose="02020603050405020304" pitchFamily="18" charset="0"/>
              </a:rPr>
              <a:t>2</a:t>
            </a:r>
            <a:r>
              <a:rPr lang="en-US" b="1" dirty="0">
                <a:solidFill>
                  <a:schemeClr val="tx1"/>
                </a:solidFill>
                <a:latin typeface="Times New Roman" panose="02020603050405020304" pitchFamily="18" charset="0"/>
                <a:cs typeface="Times New Roman" panose="02020603050405020304" pitchFamily="18" charset="0"/>
              </a:rPr>
              <a:t>. Shared Responsibility (You Build It, You Run It)</a:t>
            </a:r>
          </a:p>
          <a:p>
            <a:r>
              <a:rPr lang="en-US" b="1" dirty="0">
                <a:solidFill>
                  <a:schemeClr val="tx1"/>
                </a:solidFill>
                <a:latin typeface="Times New Roman" panose="02020603050405020304" pitchFamily="18" charset="0"/>
                <a:cs typeface="Times New Roman" panose="02020603050405020304" pitchFamily="18" charset="0"/>
              </a:rPr>
              <a:t>What is Shared Responsibility?</a:t>
            </a:r>
          </a:p>
          <a:p>
            <a:r>
              <a:rPr lang="en-US" dirty="0">
                <a:solidFill>
                  <a:schemeClr val="tx1"/>
                </a:solidFill>
                <a:latin typeface="Times New Roman" panose="02020603050405020304" pitchFamily="18" charset="0"/>
                <a:cs typeface="Times New Roman" panose="02020603050405020304" pitchFamily="18" charset="0"/>
              </a:rPr>
              <a:t>In traditional software development, developers only write code, and the operations team manages the software after deployment.</a:t>
            </a:r>
          </a:p>
          <a:p>
            <a:r>
              <a:rPr lang="en-US" dirty="0">
                <a:solidFill>
                  <a:schemeClr val="tx1"/>
                </a:solidFill>
                <a:latin typeface="Times New Roman" panose="02020603050405020304" pitchFamily="18" charset="0"/>
                <a:cs typeface="Times New Roman" panose="02020603050405020304" pitchFamily="18" charset="0"/>
              </a:rPr>
              <a:t>In DevOps, </a:t>
            </a:r>
            <a:r>
              <a:rPr lang="en-US" b="1" dirty="0">
                <a:solidFill>
                  <a:schemeClr val="tx1"/>
                </a:solidFill>
                <a:latin typeface="Times New Roman" panose="02020603050405020304" pitchFamily="18" charset="0"/>
                <a:cs typeface="Times New Roman" panose="02020603050405020304" pitchFamily="18" charset="0"/>
              </a:rPr>
              <a:t>everyone shares responsibility for the application's success or failure</a:t>
            </a:r>
            <a:r>
              <a:rPr lang="en-US" dirty="0">
                <a:solidFill>
                  <a:schemeClr val="tx1"/>
                </a:solidFill>
                <a:latin typeface="Times New Roman" panose="02020603050405020304" pitchFamily="18" charset="0"/>
                <a:cs typeface="Times New Roman" panose="02020603050405020304" pitchFamily="18" charset="0"/>
              </a:rPr>
              <a:t>. Developers not only build the software but also help monitor, maintain, and fix issues after deployment. This is known as </a:t>
            </a:r>
            <a:r>
              <a:rPr lang="en-US" b="1" dirty="0">
                <a:solidFill>
                  <a:schemeClr val="tx1"/>
                </a:solidFill>
                <a:latin typeface="Times New Roman" panose="02020603050405020304" pitchFamily="18" charset="0"/>
                <a:cs typeface="Times New Roman" panose="02020603050405020304" pitchFamily="18" charset="0"/>
              </a:rPr>
              <a:t>"You Build It, You Run It</a:t>
            </a:r>
            <a:r>
              <a:rPr lang="en-US" b="1" dirty="0" smtClean="0">
                <a:solidFill>
                  <a:schemeClr val="tx1"/>
                </a:solidFill>
                <a:latin typeface="Times New Roman" panose="02020603050405020304" pitchFamily="18" charset="0"/>
                <a:cs typeface="Times New Roman" panose="02020603050405020304" pitchFamily="18" charset="0"/>
              </a:rPr>
              <a:t>.“</a:t>
            </a:r>
          </a:p>
          <a:p>
            <a:r>
              <a:rPr lang="en-US" b="1" dirty="0">
                <a:solidFill>
                  <a:schemeClr val="tx1"/>
                </a:solidFill>
                <a:latin typeface="Times New Roman" panose="02020603050405020304" pitchFamily="18" charset="0"/>
                <a:cs typeface="Times New Roman" panose="02020603050405020304" pitchFamily="18" charset="0"/>
              </a:rPr>
              <a:t>3. Communication</a:t>
            </a:r>
          </a:p>
          <a:p>
            <a:r>
              <a:rPr lang="en-US" b="1" dirty="0">
                <a:solidFill>
                  <a:schemeClr val="tx1"/>
                </a:solidFill>
                <a:latin typeface="Times New Roman" panose="02020603050405020304" pitchFamily="18" charset="0"/>
                <a:cs typeface="Times New Roman" panose="02020603050405020304" pitchFamily="18" charset="0"/>
              </a:rPr>
              <a:t>What is Communication?</a:t>
            </a:r>
          </a:p>
          <a:p>
            <a:r>
              <a:rPr lang="en-US" dirty="0">
                <a:solidFill>
                  <a:schemeClr val="tx1"/>
                </a:solidFill>
                <a:latin typeface="Times New Roman" panose="02020603050405020304" pitchFamily="18" charset="0"/>
                <a:cs typeface="Times New Roman" panose="02020603050405020304" pitchFamily="18" charset="0"/>
              </a:rPr>
              <a:t>Communication means that </a:t>
            </a:r>
            <a:r>
              <a:rPr lang="en-US" b="1" dirty="0">
                <a:solidFill>
                  <a:schemeClr val="tx1"/>
                </a:solidFill>
                <a:latin typeface="Times New Roman" panose="02020603050405020304" pitchFamily="18" charset="0"/>
                <a:cs typeface="Times New Roman" panose="02020603050405020304" pitchFamily="18" charset="0"/>
              </a:rPr>
              <a:t>all team members regularly exchange information about development, testing, deployment, production issues, and customer feedback</a:t>
            </a:r>
            <a:r>
              <a:rPr lang="en-US" dirty="0">
                <a:solidFill>
                  <a:schemeClr val="tx1"/>
                </a:solidFill>
                <a:latin typeface="Times New Roman" panose="02020603050405020304" pitchFamily="18" charset="0"/>
                <a:cs typeface="Times New Roman" panose="02020603050405020304" pitchFamily="18" charset="0"/>
              </a:rPr>
              <a:t>. DevOps encourages open, transparent communication using meetings, dashboards, chat tools, and documentation.</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40819473"/>
      </p:ext>
    </p:extLst>
  </p:cSld>
  <p:clrMapOvr>
    <a:masterClrMapping/>
  </p:clrMapOvr>
  <p:transition spd="slow">
    <p:push dir="u"/>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3795" y="290945"/>
            <a:ext cx="10353762" cy="6262255"/>
          </a:xfrm>
        </p:spPr>
        <p:txBody>
          <a:bodyPr>
            <a:normAutofit fontScale="77500" lnSpcReduction="20000"/>
          </a:bodyPr>
          <a:lstStyle/>
          <a:p>
            <a:r>
              <a:rPr lang="en-US" sz="2600" b="1" dirty="0">
                <a:solidFill>
                  <a:schemeClr val="tx1"/>
                </a:solidFill>
                <a:latin typeface="Times New Roman" panose="02020603050405020304" pitchFamily="18" charset="0"/>
                <a:cs typeface="Times New Roman" panose="02020603050405020304" pitchFamily="18" charset="0"/>
              </a:rPr>
              <a:t>4. Continuous Learning</a:t>
            </a:r>
          </a:p>
          <a:p>
            <a:r>
              <a:rPr lang="en-US" sz="2600" b="1" dirty="0">
                <a:solidFill>
                  <a:schemeClr val="tx1"/>
                </a:solidFill>
                <a:latin typeface="Times New Roman" panose="02020603050405020304" pitchFamily="18" charset="0"/>
                <a:cs typeface="Times New Roman" panose="02020603050405020304" pitchFamily="18" charset="0"/>
              </a:rPr>
              <a:t>What is Continuous Learning?</a:t>
            </a:r>
          </a:p>
          <a:p>
            <a:r>
              <a:rPr lang="en-US" sz="2600" b="1" dirty="0">
                <a:solidFill>
                  <a:schemeClr val="tx1"/>
                </a:solidFill>
                <a:latin typeface="Times New Roman" panose="02020603050405020304" pitchFamily="18" charset="0"/>
                <a:cs typeface="Times New Roman" panose="02020603050405020304" pitchFamily="18" charset="0"/>
              </a:rPr>
              <a:t>Continuous learning means that individuals and teams constantly improve their skills, learn from failures, adopt new technologies, and share knowledge with each other. DevOps promotes experimentation, fast feedback, and learning from both successes and mistakes.</a:t>
            </a:r>
          </a:p>
          <a:p>
            <a:r>
              <a:rPr lang="en-US" sz="2600" b="1" dirty="0">
                <a:solidFill>
                  <a:schemeClr val="tx1"/>
                </a:solidFill>
                <a:latin typeface="Times New Roman" panose="02020603050405020304" pitchFamily="18" charset="0"/>
                <a:cs typeface="Times New Roman" panose="02020603050405020304" pitchFamily="18" charset="0"/>
              </a:rPr>
              <a:t>5. Trust &amp; Transparency</a:t>
            </a:r>
          </a:p>
          <a:p>
            <a:r>
              <a:rPr lang="en-US" sz="2600" b="1" dirty="0">
                <a:solidFill>
                  <a:schemeClr val="tx1"/>
                </a:solidFill>
                <a:latin typeface="Times New Roman" panose="02020603050405020304" pitchFamily="18" charset="0"/>
                <a:cs typeface="Times New Roman" panose="02020603050405020304" pitchFamily="18" charset="0"/>
              </a:rPr>
              <a:t>What is Trust &amp; Transparency?</a:t>
            </a:r>
          </a:p>
          <a:p>
            <a:r>
              <a:rPr lang="en-US" sz="2600" b="1" dirty="0">
                <a:solidFill>
                  <a:schemeClr val="tx1"/>
                </a:solidFill>
                <a:latin typeface="Times New Roman" panose="02020603050405020304" pitchFamily="18" charset="0"/>
                <a:cs typeface="Times New Roman" panose="02020603050405020304" pitchFamily="18" charset="0"/>
              </a:rPr>
              <a:t>Trust means team members believe in each other's skills and intentions. Transparency means everyone can see project progress, deployment status, issues, and performance metrics openly. There is no hiding of problems or blaming individuals. DevOps promotes openness and psychological safety so teams can improve together</a:t>
            </a:r>
            <a:r>
              <a:rPr lang="en-US" sz="2600" b="1" dirty="0" smtClean="0">
                <a:solidFill>
                  <a:schemeClr val="tx1"/>
                </a:solidFill>
                <a:latin typeface="Times New Roman" panose="02020603050405020304" pitchFamily="18" charset="0"/>
                <a:cs typeface="Times New Roman" panose="02020603050405020304" pitchFamily="18" charset="0"/>
              </a:rPr>
              <a:t>.</a:t>
            </a:r>
          </a:p>
          <a:p>
            <a:endParaRPr lang="en-US" sz="2600" b="1" dirty="0" smtClean="0">
              <a:solidFill>
                <a:schemeClr val="tx1"/>
              </a:solidFill>
              <a:latin typeface="Times New Roman" panose="02020603050405020304" pitchFamily="18" charset="0"/>
              <a:cs typeface="Times New Roman" panose="02020603050405020304" pitchFamily="18" charset="0"/>
            </a:endParaRPr>
          </a:p>
          <a:p>
            <a:r>
              <a:rPr lang="en-US" sz="2600" b="1" dirty="0">
                <a:solidFill>
                  <a:schemeClr val="tx1"/>
                </a:solidFill>
                <a:latin typeface="Times New Roman" panose="02020603050405020304" pitchFamily="18" charset="0"/>
                <a:cs typeface="Times New Roman" panose="02020603050405020304" pitchFamily="18" charset="0"/>
              </a:rPr>
              <a:t>6. Customer Focus</a:t>
            </a:r>
          </a:p>
          <a:p>
            <a:r>
              <a:rPr lang="en-US" sz="2600" b="1" dirty="0">
                <a:solidFill>
                  <a:schemeClr val="tx1"/>
                </a:solidFill>
                <a:latin typeface="Times New Roman" panose="02020603050405020304" pitchFamily="18" charset="0"/>
                <a:cs typeface="Times New Roman" panose="02020603050405020304" pitchFamily="18" charset="0"/>
              </a:rPr>
              <a:t>What is Customer Focus?</a:t>
            </a:r>
          </a:p>
          <a:p>
            <a:r>
              <a:rPr lang="en-US" sz="2600" b="1" dirty="0">
                <a:solidFill>
                  <a:schemeClr val="tx1"/>
                </a:solidFill>
                <a:latin typeface="Times New Roman" panose="02020603050405020304" pitchFamily="18" charset="0"/>
                <a:cs typeface="Times New Roman" panose="02020603050405020304" pitchFamily="18" charset="0"/>
              </a:rPr>
              <a:t>Customer focus means all development decisions are made to provide maximum value and satisfaction to users. Teams continuously collect customer feedback and improve the software based on user needs rather than assumptions</a:t>
            </a:r>
            <a:r>
              <a:rPr lang="en-US" sz="2600" b="1" dirty="0" smtClean="0">
                <a:solidFill>
                  <a:schemeClr val="tx1"/>
                </a:solidFill>
                <a:latin typeface="Times New Roman" panose="02020603050405020304" pitchFamily="18" charset="0"/>
                <a:cs typeface="Times New Roman" panose="02020603050405020304" pitchFamily="18" charset="0"/>
              </a:rPr>
              <a:t>. </a:t>
            </a:r>
            <a:endParaRPr lang="en-US" sz="2600" b="1" dirty="0">
              <a:solidFill>
                <a:schemeClr val="tx1"/>
              </a:solidFill>
              <a:latin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1956041067"/>
      </p:ext>
    </p:extLst>
  </p:cSld>
  <p:clrMapOvr>
    <a:masterClrMapping/>
  </p:clrMapOvr>
  <p:transition spd="slow">
    <p:push dir="u"/>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What is the CAMS Model?</a:t>
            </a:r>
          </a:p>
        </p:txBody>
      </p:sp>
      <p:sp>
        <p:nvSpPr>
          <p:cNvPr id="3" name="Content Placeholder 2"/>
          <p:cNvSpPr>
            <a:spLocks noGrp="1"/>
          </p:cNvSpPr>
          <p:nvPr>
            <p:ph idx="1"/>
          </p:nvPr>
        </p:nvSpPr>
        <p:spPr>
          <a:xfrm>
            <a:off x="913795" y="2076450"/>
            <a:ext cx="10353762" cy="4601441"/>
          </a:xfrm>
        </p:spPr>
        <p:txBody>
          <a:bodyPr>
            <a:normAutofit lnSpcReduction="10000"/>
          </a:bodyPr>
          <a:lstStyle/>
          <a:p>
            <a:r>
              <a:rPr lang="en-US" dirty="0">
                <a:solidFill>
                  <a:schemeClr val="tx1"/>
                </a:solidFill>
              </a:rPr>
              <a:t>The </a:t>
            </a:r>
            <a:r>
              <a:rPr lang="en-US" b="1" dirty="0">
                <a:solidFill>
                  <a:schemeClr val="tx1"/>
                </a:solidFill>
              </a:rPr>
              <a:t>CAMS Model</a:t>
            </a:r>
            <a:r>
              <a:rPr lang="en-US" dirty="0">
                <a:solidFill>
                  <a:schemeClr val="tx1"/>
                </a:solidFill>
              </a:rPr>
              <a:t> is a framework that defines the </a:t>
            </a:r>
            <a:r>
              <a:rPr lang="en-US" b="1" dirty="0">
                <a:solidFill>
                  <a:schemeClr val="tx1"/>
                </a:solidFill>
              </a:rPr>
              <a:t>four core principles of DevOps</a:t>
            </a:r>
            <a:r>
              <a:rPr lang="en-US" dirty="0">
                <a:solidFill>
                  <a:schemeClr val="tx1"/>
                </a:solidFill>
              </a:rPr>
              <a:t>. It was introduced by </a:t>
            </a:r>
            <a:r>
              <a:rPr lang="en-US" b="1" dirty="0">
                <a:solidFill>
                  <a:schemeClr val="tx1"/>
                </a:solidFill>
              </a:rPr>
              <a:t>John Willis</a:t>
            </a:r>
            <a:r>
              <a:rPr lang="en-US" dirty="0">
                <a:solidFill>
                  <a:schemeClr val="tx1"/>
                </a:solidFill>
              </a:rPr>
              <a:t> and </a:t>
            </a:r>
            <a:r>
              <a:rPr lang="en-US" b="1" dirty="0">
                <a:solidFill>
                  <a:schemeClr val="tx1"/>
                </a:solidFill>
              </a:rPr>
              <a:t>Damon Edwards</a:t>
            </a:r>
            <a:r>
              <a:rPr lang="en-US" dirty="0">
                <a:solidFill>
                  <a:schemeClr val="tx1"/>
                </a:solidFill>
              </a:rPr>
              <a:t> to help organizations successfully adopt DevOps practices. CAMS stands for:</a:t>
            </a:r>
          </a:p>
          <a:p>
            <a:r>
              <a:rPr lang="en-US" b="1" dirty="0">
                <a:solidFill>
                  <a:schemeClr val="tx1"/>
                </a:solidFill>
              </a:rPr>
              <a:t>C – Culture</a:t>
            </a:r>
            <a:r>
              <a:rPr lang="en-US" dirty="0">
                <a:solidFill>
                  <a:schemeClr val="tx1"/>
                </a:solidFill>
              </a:rPr>
              <a:t> </a:t>
            </a:r>
          </a:p>
          <a:p>
            <a:r>
              <a:rPr lang="en-US" b="1" dirty="0">
                <a:solidFill>
                  <a:schemeClr val="tx1"/>
                </a:solidFill>
              </a:rPr>
              <a:t>A – Automation</a:t>
            </a:r>
            <a:r>
              <a:rPr lang="en-US" dirty="0">
                <a:solidFill>
                  <a:schemeClr val="tx1"/>
                </a:solidFill>
              </a:rPr>
              <a:t> </a:t>
            </a:r>
          </a:p>
          <a:p>
            <a:r>
              <a:rPr lang="en-US" b="1" dirty="0">
                <a:solidFill>
                  <a:schemeClr val="tx1"/>
                </a:solidFill>
              </a:rPr>
              <a:t>M – Measurement</a:t>
            </a:r>
            <a:r>
              <a:rPr lang="en-US" dirty="0">
                <a:solidFill>
                  <a:schemeClr val="tx1"/>
                </a:solidFill>
              </a:rPr>
              <a:t> </a:t>
            </a:r>
          </a:p>
          <a:p>
            <a:r>
              <a:rPr lang="en-US" b="1" dirty="0">
                <a:solidFill>
                  <a:schemeClr val="tx1"/>
                </a:solidFill>
              </a:rPr>
              <a:t>S – Sharing</a:t>
            </a:r>
            <a:r>
              <a:rPr lang="en-US" dirty="0">
                <a:solidFill>
                  <a:schemeClr val="tx1"/>
                </a:solidFill>
              </a:rPr>
              <a:t> </a:t>
            </a:r>
          </a:p>
          <a:p>
            <a:r>
              <a:rPr lang="en-US" dirty="0">
                <a:solidFill>
                  <a:schemeClr val="tx1"/>
                </a:solidFill>
              </a:rPr>
              <a:t>The model emphasizes that DevOps is not only about tools but also about </a:t>
            </a:r>
            <a:r>
              <a:rPr lang="en-US" b="1" dirty="0">
                <a:solidFill>
                  <a:schemeClr val="tx1"/>
                </a:solidFill>
              </a:rPr>
              <a:t>people, processes, collaboration, and continuous improvement</a:t>
            </a:r>
            <a:r>
              <a:rPr lang="en-US" dirty="0">
                <a:solidFill>
                  <a:schemeClr val="tx1"/>
                </a:solidFill>
              </a:rPr>
              <a:t>. It provides a foundation for building a fast, reliable, and customer-focused software delivery process.</a:t>
            </a:r>
          </a:p>
          <a:p>
            <a:endParaRPr lang="en-US" dirty="0"/>
          </a:p>
        </p:txBody>
      </p:sp>
    </p:spTree>
    <p:extLst>
      <p:ext uri="{BB962C8B-B14F-4D97-AF65-F5344CB8AC3E}">
        <p14:creationId xmlns:p14="http://schemas.microsoft.com/office/powerpoint/2010/main" val="2212934990"/>
      </p:ext>
    </p:extLst>
  </p:cSld>
  <p:clrMapOvr>
    <a:masterClrMapping/>
  </p:clrMapOvr>
  <p:transition spd="slow">
    <p:push dir="u"/>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CAMS Model</a:t>
            </a:r>
          </a:p>
        </p:txBody>
      </p:sp>
      <p:pic>
        <p:nvPicPr>
          <p:cNvPr id="6" name="Content Placeholder 5"/>
          <p:cNvPicPr>
            <a:picLocks noGrp="1" noChangeAspect="1"/>
          </p:cNvPicPr>
          <p:nvPr>
            <p:ph idx="1"/>
          </p:nvPr>
        </p:nvPicPr>
        <p:blipFill>
          <a:blip r:embed="rId2"/>
          <a:stretch>
            <a:fillRect/>
          </a:stretch>
        </p:blipFill>
        <p:spPr>
          <a:xfrm>
            <a:off x="2050473" y="2076449"/>
            <a:ext cx="7010400" cy="4490605"/>
          </a:xfrm>
          <a:prstGeom prst="rect">
            <a:avLst/>
          </a:prstGeom>
        </p:spPr>
      </p:pic>
    </p:spTree>
    <p:extLst>
      <p:ext uri="{BB962C8B-B14F-4D97-AF65-F5344CB8AC3E}">
        <p14:creationId xmlns:p14="http://schemas.microsoft.com/office/powerpoint/2010/main" val="2084370402"/>
      </p:ext>
    </p:extLst>
  </p:cSld>
  <p:clrMapOvr>
    <a:masterClrMapping/>
  </p:clrMapOvr>
  <p:transition spd="slow">
    <p:push dir="u"/>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3795" y="762000"/>
            <a:ext cx="10353762" cy="5500255"/>
          </a:xfrm>
        </p:spPr>
        <p:txBody>
          <a:bodyPr>
            <a:normAutofit fontScale="92500" lnSpcReduction="10000"/>
          </a:bodyPr>
          <a:lstStyle/>
          <a:p>
            <a:r>
              <a:rPr lang="en-US" b="1" dirty="0" smtClean="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1. C </a:t>
            </a:r>
            <a:r>
              <a:rPr lang="en-US"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Culture</a:t>
            </a:r>
          </a:p>
          <a:p>
            <a:r>
              <a:rPr lang="en-US"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What is Culture?</a:t>
            </a:r>
          </a:p>
          <a:p>
            <a:r>
              <a:rPr lang="en-US"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Culture is the </a:t>
            </a:r>
            <a:r>
              <a:rPr lang="en-US"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most important pillar of DevOps</a:t>
            </a:r>
            <a:r>
              <a:rPr lang="en-US"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It focuses on creating an environment where developers, testers, operations, and security teams work together with </a:t>
            </a:r>
            <a:r>
              <a:rPr lang="en-US"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shared goals, trust, and responsibility</a:t>
            </a:r>
            <a:r>
              <a:rPr lang="en-US"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instead of working in isolated departments (silos). Organizations adopting DevOps prioritize collaboration, openness, continuous learning, and customer value.</a:t>
            </a:r>
          </a:p>
          <a:p>
            <a:r>
              <a:rPr lang="en-US"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Objectives</a:t>
            </a:r>
          </a:p>
          <a:p>
            <a:r>
              <a:rPr lang="en-US"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Break down team silos. </a:t>
            </a:r>
          </a:p>
          <a:p>
            <a:r>
              <a:rPr lang="en-US"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Encourage teamwork. </a:t>
            </a:r>
          </a:p>
          <a:p>
            <a:r>
              <a:rPr lang="en-US"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Build trust and transparency. </a:t>
            </a:r>
          </a:p>
          <a:p>
            <a:r>
              <a:rPr lang="en-US"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Promote continuous learning. </a:t>
            </a:r>
          </a:p>
          <a:p>
            <a:r>
              <a:rPr lang="en-US"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Focus on customer satisfaction. </a:t>
            </a:r>
          </a:p>
          <a:p>
            <a:endParaRPr lang="en-US"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 name="TextBox 1"/>
          <p:cNvSpPr txBox="1"/>
          <p:nvPr/>
        </p:nvSpPr>
        <p:spPr>
          <a:xfrm>
            <a:off x="6090676" y="3796145"/>
            <a:ext cx="4281055" cy="1969770"/>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Benefits</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Faster problem solving </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Better software quality </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Improved productivity </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Higher employee satisfaction</a:t>
            </a:r>
          </a:p>
          <a:p>
            <a:endParaRPr lang="en-US" dirty="0"/>
          </a:p>
        </p:txBody>
      </p:sp>
    </p:spTree>
    <p:extLst>
      <p:ext uri="{BB962C8B-B14F-4D97-AF65-F5344CB8AC3E}">
        <p14:creationId xmlns:p14="http://schemas.microsoft.com/office/powerpoint/2010/main" val="2415082525"/>
      </p:ext>
    </p:extLst>
  </p:cSld>
  <p:clrMapOvr>
    <a:masterClrMapping/>
  </p:clrMapOvr>
  <p:transition spd="slow">
    <p:push dir="u"/>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3236" y="401782"/>
            <a:ext cx="11804073" cy="6262254"/>
          </a:xfrm>
        </p:spPr>
        <p:txBody>
          <a:bodyPr>
            <a:normAutofit fontScale="85000" lnSpcReduction="20000"/>
          </a:bodyPr>
          <a:lstStyle/>
          <a:p>
            <a:r>
              <a:rPr lang="en-US" sz="2900" b="1" dirty="0">
                <a:solidFill>
                  <a:schemeClr val="tx1"/>
                </a:solidFill>
                <a:latin typeface="Times New Roman" panose="02020603050405020304" pitchFamily="18" charset="0"/>
                <a:cs typeface="Times New Roman" panose="02020603050405020304" pitchFamily="18" charset="0"/>
              </a:rPr>
              <a:t>2. A – Automation</a:t>
            </a:r>
          </a:p>
          <a:p>
            <a:r>
              <a:rPr lang="en-US" sz="2900" b="1" dirty="0">
                <a:solidFill>
                  <a:schemeClr val="tx1"/>
                </a:solidFill>
                <a:latin typeface="Times New Roman" panose="02020603050405020304" pitchFamily="18" charset="0"/>
                <a:cs typeface="Times New Roman" panose="02020603050405020304" pitchFamily="18" charset="0"/>
              </a:rPr>
              <a:t>What is Automation?</a:t>
            </a:r>
          </a:p>
          <a:p>
            <a:r>
              <a:rPr lang="en-US" sz="2900" dirty="0">
                <a:solidFill>
                  <a:schemeClr val="tx1"/>
                </a:solidFill>
                <a:latin typeface="Times New Roman" panose="02020603050405020304" pitchFamily="18" charset="0"/>
                <a:cs typeface="Times New Roman" panose="02020603050405020304" pitchFamily="18" charset="0"/>
              </a:rPr>
              <a:t>Automation means using software tools to perform </a:t>
            </a:r>
            <a:r>
              <a:rPr lang="en-US" sz="2900" b="1" dirty="0">
                <a:solidFill>
                  <a:schemeClr val="tx1"/>
                </a:solidFill>
                <a:latin typeface="Times New Roman" panose="02020603050405020304" pitchFamily="18" charset="0"/>
                <a:cs typeface="Times New Roman" panose="02020603050405020304" pitchFamily="18" charset="0"/>
              </a:rPr>
              <a:t>repetitive tasks automatically</a:t>
            </a:r>
            <a:r>
              <a:rPr lang="en-US" sz="2900" dirty="0">
                <a:solidFill>
                  <a:schemeClr val="tx1"/>
                </a:solidFill>
                <a:latin typeface="Times New Roman" panose="02020603050405020304" pitchFamily="18" charset="0"/>
                <a:cs typeface="Times New Roman" panose="02020603050405020304" pitchFamily="18" charset="0"/>
              </a:rPr>
              <a:t> instead of manually. DevOps automates coding, testing, building, deployment, infrastructure provisioning, monitoring, and configuration management to reduce errors and improve speed. Automation increases consistency and frees teams to focus on innovation.</a:t>
            </a:r>
          </a:p>
          <a:p>
            <a:r>
              <a:rPr lang="en-US" sz="3400" b="1" dirty="0">
                <a:solidFill>
                  <a:schemeClr val="tx1"/>
                </a:solidFill>
                <a:latin typeface="Times New Roman" panose="02020603050405020304" pitchFamily="18" charset="0"/>
                <a:cs typeface="Times New Roman" panose="02020603050405020304" pitchFamily="18" charset="0"/>
              </a:rPr>
              <a:t>Objectives</a:t>
            </a:r>
          </a:p>
          <a:p>
            <a:r>
              <a:rPr lang="en-US" sz="3400" dirty="0">
                <a:solidFill>
                  <a:schemeClr val="tx1"/>
                </a:solidFill>
                <a:latin typeface="Times New Roman" panose="02020603050405020304" pitchFamily="18" charset="0"/>
                <a:cs typeface="Times New Roman" panose="02020603050405020304" pitchFamily="18" charset="0"/>
              </a:rPr>
              <a:t>Reduce manual work. </a:t>
            </a:r>
          </a:p>
          <a:p>
            <a:r>
              <a:rPr lang="en-US" sz="3400" dirty="0">
                <a:solidFill>
                  <a:schemeClr val="tx1"/>
                </a:solidFill>
                <a:latin typeface="Times New Roman" panose="02020603050405020304" pitchFamily="18" charset="0"/>
                <a:cs typeface="Times New Roman" panose="02020603050405020304" pitchFamily="18" charset="0"/>
              </a:rPr>
              <a:t>Minimize human errors. </a:t>
            </a:r>
          </a:p>
          <a:p>
            <a:r>
              <a:rPr lang="en-US" sz="3400" dirty="0">
                <a:solidFill>
                  <a:schemeClr val="tx1"/>
                </a:solidFill>
                <a:latin typeface="Times New Roman" panose="02020603050405020304" pitchFamily="18" charset="0"/>
                <a:cs typeface="Times New Roman" panose="02020603050405020304" pitchFamily="18" charset="0"/>
              </a:rPr>
              <a:t>Speed up software delivery. </a:t>
            </a:r>
          </a:p>
          <a:p>
            <a:r>
              <a:rPr lang="en-US" sz="3400" dirty="0">
                <a:solidFill>
                  <a:schemeClr val="tx1"/>
                </a:solidFill>
                <a:latin typeface="Times New Roman" panose="02020603050405020304" pitchFamily="18" charset="0"/>
                <a:cs typeface="Times New Roman" panose="02020603050405020304" pitchFamily="18" charset="0"/>
              </a:rPr>
              <a:t>Increase consistency. </a:t>
            </a:r>
          </a:p>
          <a:p>
            <a:r>
              <a:rPr lang="en-US" sz="3400" dirty="0">
                <a:solidFill>
                  <a:schemeClr val="tx1"/>
                </a:solidFill>
                <a:latin typeface="Times New Roman" panose="02020603050405020304" pitchFamily="18" charset="0"/>
                <a:cs typeface="Times New Roman" panose="02020603050405020304" pitchFamily="18" charset="0"/>
              </a:rPr>
              <a:t>Improve reliability.</a:t>
            </a:r>
          </a:p>
          <a:p>
            <a:endParaRPr lang="en-US" dirty="0"/>
          </a:p>
        </p:txBody>
      </p:sp>
    </p:spTree>
    <p:extLst>
      <p:ext uri="{BB962C8B-B14F-4D97-AF65-F5344CB8AC3E}">
        <p14:creationId xmlns:p14="http://schemas.microsoft.com/office/powerpoint/2010/main" val="2471046134"/>
      </p:ext>
    </p:extLst>
  </p:cSld>
  <p:clrMapOvr>
    <a:masterClrMapping/>
  </p:clrMapOvr>
  <p:transition spd="slow">
    <p:push dir="u"/>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3795" y="720436"/>
            <a:ext cx="11001114" cy="5735782"/>
          </a:xfrm>
        </p:spPr>
        <p:txBody>
          <a:bodyPr>
            <a:noAutofit/>
          </a:bodyPr>
          <a:lstStyle/>
          <a:p>
            <a:r>
              <a:rPr lang="en-US" sz="20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Tasks That Can Be Automated</a:t>
            </a:r>
          </a:p>
          <a:p>
            <a:r>
              <a:rPr lang="en-US" sz="20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Code compilation </a:t>
            </a:r>
          </a:p>
          <a:p>
            <a:r>
              <a:rPr lang="en-US" sz="20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Automated testing </a:t>
            </a:r>
          </a:p>
          <a:p>
            <a:r>
              <a:rPr lang="en-US" sz="20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Build creation </a:t>
            </a:r>
          </a:p>
          <a:p>
            <a:r>
              <a:rPr lang="en-US" sz="20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Deployment </a:t>
            </a:r>
          </a:p>
          <a:p>
            <a:r>
              <a:rPr lang="en-US" sz="20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Infrastructure provisioning </a:t>
            </a:r>
          </a:p>
          <a:p>
            <a:r>
              <a:rPr lang="en-US" sz="20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Server configuration </a:t>
            </a:r>
          </a:p>
          <a:p>
            <a:r>
              <a:rPr lang="en-US" sz="20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Monitoring </a:t>
            </a:r>
          </a:p>
          <a:p>
            <a:r>
              <a:rPr lang="en-US" sz="2000" b="1" dirty="0" smtClean="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Backup</a:t>
            </a:r>
            <a:endParaRPr lang="en-US" sz="20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r>
              <a:rPr lang="en-US" sz="2000" b="1" dirty="0" smtClean="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Common </a:t>
            </a:r>
            <a:r>
              <a:rPr lang="en-US" sz="20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Automation Tools</a:t>
            </a:r>
          </a:p>
          <a:p>
            <a:r>
              <a:rPr lang="en-US" sz="2000" b="1" dirty="0" err="1">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Git</a:t>
            </a:r>
            <a:r>
              <a:rPr lang="en-US" sz="20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000" b="1" dirty="0" smtClean="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Jenkins , Docker , Kubernetes , </a:t>
            </a:r>
            <a:r>
              <a:rPr lang="en-US" sz="2000" b="1" dirty="0" err="1" smtClean="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Ansible</a:t>
            </a:r>
            <a:r>
              <a:rPr lang="en-US" sz="2000" b="1" dirty="0" smtClean="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0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a:t>
            </a:r>
            <a:r>
              <a:rPr lang="en-US" sz="2000" b="1" dirty="0" smtClean="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Terraform</a:t>
            </a:r>
            <a:endParaRPr lang="en-US" sz="2000" b="1" dirty="0">
              <a:solidFill>
                <a:schemeClr val="tx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2" name="TextBox 1"/>
          <p:cNvSpPr txBox="1"/>
          <p:nvPr/>
        </p:nvSpPr>
        <p:spPr>
          <a:xfrm>
            <a:off x="6096000" y="1403113"/>
            <a:ext cx="3726872" cy="2277547"/>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Benefits</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Faster releases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Fewer deployment failures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Consistent environments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Better productivity </a:t>
            </a:r>
          </a:p>
          <a:p>
            <a:pPr marL="285750" indent="-28575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Reduced operational cost</a:t>
            </a:r>
          </a:p>
          <a:p>
            <a:endParaRPr lang="en-US" dirty="0"/>
          </a:p>
        </p:txBody>
      </p:sp>
    </p:spTree>
    <p:extLst>
      <p:ext uri="{BB962C8B-B14F-4D97-AF65-F5344CB8AC3E}">
        <p14:creationId xmlns:p14="http://schemas.microsoft.com/office/powerpoint/2010/main" val="2982631134"/>
      </p:ext>
    </p:extLst>
  </p:cSld>
  <p:clrMapOvr>
    <a:masterClrMapping/>
  </p:clrMapOvr>
  <p:transition spd="slow">
    <p:push dir="u"/>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3. M – Measurement</a:t>
            </a:r>
          </a:p>
        </p:txBody>
      </p:sp>
      <p:sp>
        <p:nvSpPr>
          <p:cNvPr id="3" name="Content Placeholder 2"/>
          <p:cNvSpPr>
            <a:spLocks noGrp="1"/>
          </p:cNvSpPr>
          <p:nvPr>
            <p:ph idx="1"/>
          </p:nvPr>
        </p:nvSpPr>
        <p:spPr>
          <a:xfrm>
            <a:off x="913795" y="2076450"/>
            <a:ext cx="10353762" cy="4587586"/>
          </a:xfrm>
        </p:spPr>
        <p:txBody>
          <a:bodyPr>
            <a:normAutofit fontScale="85000" lnSpcReduction="20000"/>
          </a:bodyPr>
          <a:lstStyle/>
          <a:p>
            <a:r>
              <a:rPr lang="en-US" sz="2600" b="1" dirty="0">
                <a:latin typeface="Times New Roman" panose="02020603050405020304" pitchFamily="18" charset="0"/>
                <a:cs typeface="Times New Roman" panose="02020603050405020304" pitchFamily="18" charset="0"/>
              </a:rPr>
              <a:t>What is Measurement?</a:t>
            </a:r>
          </a:p>
          <a:p>
            <a:r>
              <a:rPr lang="en-US" sz="2600" dirty="0">
                <a:latin typeface="Times New Roman" panose="02020603050405020304" pitchFamily="18" charset="0"/>
                <a:cs typeface="Times New Roman" panose="02020603050405020304" pitchFamily="18" charset="0"/>
              </a:rPr>
              <a:t>Measurement means </a:t>
            </a:r>
            <a:r>
              <a:rPr lang="en-US" sz="2600" b="1" dirty="0">
                <a:latin typeface="Times New Roman" panose="02020603050405020304" pitchFamily="18" charset="0"/>
                <a:cs typeface="Times New Roman" panose="02020603050405020304" pitchFamily="18" charset="0"/>
              </a:rPr>
              <a:t>collecting and analyzing data</a:t>
            </a:r>
            <a:r>
              <a:rPr lang="en-US" sz="2600" dirty="0">
                <a:latin typeface="Times New Roman" panose="02020603050405020304" pitchFamily="18" charset="0"/>
                <a:cs typeface="Times New Roman" panose="02020603050405020304" pitchFamily="18" charset="0"/>
              </a:rPr>
              <a:t> to evaluate how well the DevOps process is performing. Organizations measure important metrics (KPIs) to identify bottlenecks, improve performance, and make data-driven decisions. A common DevOps principle is: </a:t>
            </a:r>
            <a:r>
              <a:rPr lang="en-US" sz="2600" b="1" dirty="0">
                <a:latin typeface="Times New Roman" panose="02020603050405020304" pitchFamily="18" charset="0"/>
                <a:cs typeface="Times New Roman" panose="02020603050405020304" pitchFamily="18" charset="0"/>
              </a:rPr>
              <a:t>"If you can't measure it, you can't improve it."</a:t>
            </a:r>
            <a:r>
              <a:rPr lang="en-US" sz="2600" dirty="0">
                <a:latin typeface="Times New Roman" panose="02020603050405020304" pitchFamily="18" charset="0"/>
                <a:cs typeface="Times New Roman" panose="02020603050405020304" pitchFamily="18" charset="0"/>
              </a:rPr>
              <a:t> </a:t>
            </a:r>
          </a:p>
          <a:p>
            <a:r>
              <a:rPr lang="en-US" sz="2600" b="1" dirty="0">
                <a:latin typeface="Times New Roman" panose="02020603050405020304" pitchFamily="18" charset="0"/>
                <a:cs typeface="Times New Roman" panose="02020603050405020304" pitchFamily="18" charset="0"/>
              </a:rPr>
              <a:t>Objectives</a:t>
            </a:r>
          </a:p>
          <a:p>
            <a:r>
              <a:rPr lang="en-US" sz="2600" dirty="0">
                <a:latin typeface="Times New Roman" panose="02020603050405020304" pitchFamily="18" charset="0"/>
                <a:cs typeface="Times New Roman" panose="02020603050405020304" pitchFamily="18" charset="0"/>
              </a:rPr>
              <a:t>Track software performance. </a:t>
            </a:r>
          </a:p>
          <a:p>
            <a:r>
              <a:rPr lang="en-US" sz="2600" dirty="0">
                <a:latin typeface="Times New Roman" panose="02020603050405020304" pitchFamily="18" charset="0"/>
                <a:cs typeface="Times New Roman" panose="02020603050405020304" pitchFamily="18" charset="0"/>
              </a:rPr>
              <a:t>Measure team productivity. </a:t>
            </a:r>
          </a:p>
          <a:p>
            <a:r>
              <a:rPr lang="en-US" sz="2600" dirty="0">
                <a:latin typeface="Times New Roman" panose="02020603050405020304" pitchFamily="18" charset="0"/>
                <a:cs typeface="Times New Roman" panose="02020603050405020304" pitchFamily="18" charset="0"/>
              </a:rPr>
              <a:t>Improve delivery speed. </a:t>
            </a:r>
          </a:p>
          <a:p>
            <a:r>
              <a:rPr lang="en-US" sz="2600" dirty="0">
                <a:latin typeface="Times New Roman" panose="02020603050405020304" pitchFamily="18" charset="0"/>
                <a:cs typeface="Times New Roman" panose="02020603050405020304" pitchFamily="18" charset="0"/>
              </a:rPr>
              <a:t>Detect problems early. </a:t>
            </a:r>
          </a:p>
          <a:p>
            <a:r>
              <a:rPr lang="en-US" sz="2600" dirty="0">
                <a:latin typeface="Times New Roman" panose="02020603050405020304" pitchFamily="18" charset="0"/>
                <a:cs typeface="Times New Roman" panose="02020603050405020304" pitchFamily="18" charset="0"/>
              </a:rPr>
              <a:t>Support continuous improvement.</a:t>
            </a:r>
          </a:p>
          <a:p>
            <a:endParaRPr lang="en-US" dirty="0"/>
          </a:p>
        </p:txBody>
      </p:sp>
    </p:spTree>
    <p:extLst>
      <p:ext uri="{BB962C8B-B14F-4D97-AF65-F5344CB8AC3E}">
        <p14:creationId xmlns:p14="http://schemas.microsoft.com/office/powerpoint/2010/main" val="3984039687"/>
      </p:ext>
    </p:extLst>
  </p:cSld>
  <p:clrMapOvr>
    <a:masterClrMapping/>
  </p:clrMapOvr>
  <p:transition spd="slow">
    <p:push dir="u"/>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3795" y="526474"/>
            <a:ext cx="10353762" cy="6082144"/>
          </a:xfrm>
        </p:spPr>
        <p:txBody>
          <a:bodyPr>
            <a:normAutofit fontScale="92500" lnSpcReduction="10000"/>
          </a:bodyPr>
          <a:lstStyle/>
          <a:p>
            <a:r>
              <a:rPr lang="en-US" sz="3000" b="1" dirty="0">
                <a:solidFill>
                  <a:schemeClr val="tx1"/>
                </a:solidFill>
                <a:latin typeface="Times New Roman" panose="02020603050405020304" pitchFamily="18" charset="0"/>
                <a:cs typeface="Times New Roman" panose="02020603050405020304" pitchFamily="18" charset="0"/>
              </a:rPr>
              <a:t>Measurement Tools</a:t>
            </a:r>
          </a:p>
          <a:p>
            <a:r>
              <a:rPr lang="en-US" dirty="0">
                <a:solidFill>
                  <a:schemeClr val="tx1"/>
                </a:solidFill>
                <a:latin typeface="Times New Roman" panose="02020603050405020304" pitchFamily="18" charset="0"/>
                <a:cs typeface="Times New Roman" panose="02020603050405020304" pitchFamily="18" charset="0"/>
              </a:rPr>
              <a:t>Prometheus </a:t>
            </a:r>
          </a:p>
          <a:p>
            <a:r>
              <a:rPr lang="en-US" dirty="0" err="1">
                <a:solidFill>
                  <a:schemeClr val="tx1"/>
                </a:solidFill>
                <a:latin typeface="Times New Roman" panose="02020603050405020304" pitchFamily="18" charset="0"/>
                <a:cs typeface="Times New Roman" panose="02020603050405020304" pitchFamily="18" charset="0"/>
              </a:rPr>
              <a:t>Grafana</a:t>
            </a:r>
            <a:r>
              <a:rPr lang="en-US" dirty="0">
                <a:solidFill>
                  <a:schemeClr val="tx1"/>
                </a:solidFill>
                <a:latin typeface="Times New Roman" panose="02020603050405020304" pitchFamily="18" charset="0"/>
                <a:cs typeface="Times New Roman" panose="02020603050405020304" pitchFamily="18" charset="0"/>
              </a:rPr>
              <a:t> </a:t>
            </a:r>
          </a:p>
          <a:p>
            <a:r>
              <a:rPr lang="en-US" dirty="0">
                <a:solidFill>
                  <a:schemeClr val="tx1"/>
                </a:solidFill>
                <a:latin typeface="Times New Roman" panose="02020603050405020304" pitchFamily="18" charset="0"/>
                <a:cs typeface="Times New Roman" panose="02020603050405020304" pitchFamily="18" charset="0"/>
              </a:rPr>
              <a:t>ELK Stack </a:t>
            </a:r>
          </a:p>
          <a:p>
            <a:r>
              <a:rPr lang="en-US" dirty="0" err="1">
                <a:solidFill>
                  <a:schemeClr val="tx1"/>
                </a:solidFill>
                <a:latin typeface="Times New Roman" panose="02020603050405020304" pitchFamily="18" charset="0"/>
                <a:cs typeface="Times New Roman" panose="02020603050405020304" pitchFamily="18" charset="0"/>
              </a:rPr>
              <a:t>Splunk</a:t>
            </a:r>
            <a:r>
              <a:rPr lang="en-US" dirty="0">
                <a:solidFill>
                  <a:schemeClr val="tx1"/>
                </a:solidFill>
                <a:latin typeface="Times New Roman" panose="02020603050405020304" pitchFamily="18" charset="0"/>
                <a:cs typeface="Times New Roman" panose="02020603050405020304" pitchFamily="18" charset="0"/>
              </a:rPr>
              <a:t> </a:t>
            </a:r>
          </a:p>
          <a:p>
            <a:r>
              <a:rPr lang="en-US" dirty="0" err="1">
                <a:solidFill>
                  <a:schemeClr val="tx1"/>
                </a:solidFill>
                <a:latin typeface="Times New Roman" panose="02020603050405020304" pitchFamily="18" charset="0"/>
                <a:cs typeface="Times New Roman" panose="02020603050405020304" pitchFamily="18" charset="0"/>
              </a:rPr>
              <a:t>Datadog</a:t>
            </a:r>
            <a:r>
              <a:rPr lang="en-US" dirty="0">
                <a:solidFill>
                  <a:schemeClr val="tx1"/>
                </a:solidFill>
                <a:latin typeface="Times New Roman" panose="02020603050405020304" pitchFamily="18" charset="0"/>
                <a:cs typeface="Times New Roman" panose="02020603050405020304" pitchFamily="18" charset="0"/>
              </a:rPr>
              <a:t> </a:t>
            </a:r>
          </a:p>
          <a:p>
            <a:r>
              <a:rPr lang="en-US" sz="2800" b="1" dirty="0">
                <a:solidFill>
                  <a:schemeClr val="tx1"/>
                </a:solidFill>
                <a:latin typeface="Times New Roman" panose="02020603050405020304" pitchFamily="18" charset="0"/>
                <a:cs typeface="Times New Roman" panose="02020603050405020304" pitchFamily="18" charset="0"/>
              </a:rPr>
              <a:t>Benefits</a:t>
            </a:r>
          </a:p>
          <a:p>
            <a:r>
              <a:rPr lang="en-US" dirty="0">
                <a:solidFill>
                  <a:schemeClr val="tx1"/>
                </a:solidFill>
                <a:latin typeface="Times New Roman" panose="02020603050405020304" pitchFamily="18" charset="0"/>
                <a:cs typeface="Times New Roman" panose="02020603050405020304" pitchFamily="18" charset="0"/>
              </a:rPr>
              <a:t>Better decision making </a:t>
            </a:r>
          </a:p>
          <a:p>
            <a:r>
              <a:rPr lang="en-US" dirty="0">
                <a:solidFill>
                  <a:schemeClr val="tx1"/>
                </a:solidFill>
                <a:latin typeface="Times New Roman" panose="02020603050405020304" pitchFamily="18" charset="0"/>
                <a:cs typeface="Times New Roman" panose="02020603050405020304" pitchFamily="18" charset="0"/>
              </a:rPr>
              <a:t>Faster issue detection </a:t>
            </a:r>
          </a:p>
          <a:p>
            <a:r>
              <a:rPr lang="en-US" dirty="0">
                <a:solidFill>
                  <a:schemeClr val="tx1"/>
                </a:solidFill>
                <a:latin typeface="Times New Roman" panose="02020603050405020304" pitchFamily="18" charset="0"/>
                <a:cs typeface="Times New Roman" panose="02020603050405020304" pitchFamily="18" charset="0"/>
              </a:rPr>
              <a:t>Higher software quality </a:t>
            </a:r>
          </a:p>
          <a:p>
            <a:r>
              <a:rPr lang="en-US" dirty="0">
                <a:solidFill>
                  <a:schemeClr val="tx1"/>
                </a:solidFill>
                <a:latin typeface="Times New Roman" panose="02020603050405020304" pitchFamily="18" charset="0"/>
                <a:cs typeface="Times New Roman" panose="02020603050405020304" pitchFamily="18" charset="0"/>
              </a:rPr>
              <a:t>Improved customer experience </a:t>
            </a:r>
          </a:p>
          <a:p>
            <a:r>
              <a:rPr lang="en-US" dirty="0">
                <a:solidFill>
                  <a:schemeClr val="tx1"/>
                </a:solidFill>
                <a:latin typeface="Times New Roman" panose="02020603050405020304" pitchFamily="18" charset="0"/>
                <a:cs typeface="Times New Roman" panose="02020603050405020304" pitchFamily="18" charset="0"/>
              </a:rPr>
              <a:t>Continuous optimization</a:t>
            </a:r>
          </a:p>
          <a:p>
            <a:endParaRPr lang="en-US" dirty="0"/>
          </a:p>
        </p:txBody>
      </p:sp>
    </p:spTree>
    <p:extLst>
      <p:ext uri="{BB962C8B-B14F-4D97-AF65-F5344CB8AC3E}">
        <p14:creationId xmlns:p14="http://schemas.microsoft.com/office/powerpoint/2010/main" val="1879767176"/>
      </p:ext>
    </p:extLst>
  </p:cSld>
  <p:clrMapOvr>
    <a:masterClrMapping/>
  </p:clrMapOvr>
  <p:transition spd="slow">
    <p:push dir="u"/>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4. S – </a:t>
            </a:r>
            <a:r>
              <a:rPr lang="en-US" b="1" dirty="0" smtClean="0"/>
              <a:t>Sharing</a:t>
            </a:r>
            <a:endParaRPr lang="en-US" dirty="0"/>
          </a:p>
        </p:txBody>
      </p:sp>
      <p:sp>
        <p:nvSpPr>
          <p:cNvPr id="3" name="Content Placeholder 2"/>
          <p:cNvSpPr>
            <a:spLocks noGrp="1"/>
          </p:cNvSpPr>
          <p:nvPr>
            <p:ph idx="1"/>
          </p:nvPr>
        </p:nvSpPr>
        <p:spPr>
          <a:xfrm>
            <a:off x="913795" y="2076450"/>
            <a:ext cx="10353762" cy="4490605"/>
          </a:xfrm>
        </p:spPr>
        <p:txBody>
          <a:bodyPr>
            <a:normAutofit fontScale="92500" lnSpcReduction="20000"/>
          </a:bodyPr>
          <a:lstStyle/>
          <a:p>
            <a:r>
              <a:rPr lang="en-US" b="1" dirty="0" smtClean="0">
                <a:solidFill>
                  <a:schemeClr val="tx1"/>
                </a:solidFill>
                <a:latin typeface="Times New Roman" panose="02020603050405020304" pitchFamily="18" charset="0"/>
                <a:cs typeface="Times New Roman" panose="02020603050405020304" pitchFamily="18" charset="0"/>
              </a:rPr>
              <a:t>What </a:t>
            </a:r>
            <a:r>
              <a:rPr lang="en-US" b="1" dirty="0">
                <a:solidFill>
                  <a:schemeClr val="tx1"/>
                </a:solidFill>
                <a:latin typeface="Times New Roman" panose="02020603050405020304" pitchFamily="18" charset="0"/>
                <a:cs typeface="Times New Roman" panose="02020603050405020304" pitchFamily="18" charset="0"/>
              </a:rPr>
              <a:t>is Sharing?</a:t>
            </a:r>
          </a:p>
          <a:p>
            <a:r>
              <a:rPr lang="en-US" dirty="0">
                <a:solidFill>
                  <a:schemeClr val="tx1"/>
                </a:solidFill>
                <a:latin typeface="Times New Roman" panose="02020603050405020304" pitchFamily="18" charset="0"/>
                <a:cs typeface="Times New Roman" panose="02020603050405020304" pitchFamily="18" charset="0"/>
              </a:rPr>
              <a:t>Sharing means </a:t>
            </a:r>
            <a:r>
              <a:rPr lang="en-US" b="1" dirty="0">
                <a:solidFill>
                  <a:schemeClr val="tx1"/>
                </a:solidFill>
                <a:latin typeface="Times New Roman" panose="02020603050405020304" pitchFamily="18" charset="0"/>
                <a:cs typeface="Times New Roman" panose="02020603050405020304" pitchFamily="18" charset="0"/>
              </a:rPr>
              <a:t>openly exchanging knowledge, experiences, feedback, tools, documentation, and lessons learned</a:t>
            </a:r>
            <a:r>
              <a:rPr lang="en-US" dirty="0">
                <a:solidFill>
                  <a:schemeClr val="tx1"/>
                </a:solidFill>
                <a:latin typeface="Times New Roman" panose="02020603050405020304" pitchFamily="18" charset="0"/>
                <a:cs typeface="Times New Roman" panose="02020603050405020304" pitchFamily="18" charset="0"/>
              </a:rPr>
              <a:t> among all team members. DevOps encourages a learning culture where successes and failures are shared to improve future work rather than assigning blame. </a:t>
            </a:r>
            <a:endParaRPr lang="en-US" dirty="0" smtClean="0">
              <a:solidFill>
                <a:schemeClr val="tx1"/>
              </a:solidFill>
              <a:latin typeface="Times New Roman" panose="02020603050405020304" pitchFamily="18" charset="0"/>
              <a:cs typeface="Times New Roman" panose="02020603050405020304" pitchFamily="18" charset="0"/>
            </a:endParaRPr>
          </a:p>
          <a:p>
            <a:r>
              <a:rPr lang="en-US" b="1" dirty="0">
                <a:solidFill>
                  <a:schemeClr val="tx1"/>
                </a:solidFill>
                <a:latin typeface="Times New Roman" panose="02020603050405020304" pitchFamily="18" charset="0"/>
                <a:cs typeface="Times New Roman" panose="02020603050405020304" pitchFamily="18" charset="0"/>
              </a:rPr>
              <a:t>Objectives</a:t>
            </a:r>
          </a:p>
          <a:p>
            <a:r>
              <a:rPr lang="en-US" dirty="0">
                <a:solidFill>
                  <a:schemeClr val="tx1"/>
                </a:solidFill>
                <a:latin typeface="Times New Roman" panose="02020603050405020304" pitchFamily="18" charset="0"/>
                <a:cs typeface="Times New Roman" panose="02020603050405020304" pitchFamily="18" charset="0"/>
              </a:rPr>
              <a:t>Improve collaboration. </a:t>
            </a:r>
          </a:p>
          <a:p>
            <a:r>
              <a:rPr lang="en-US" dirty="0">
                <a:solidFill>
                  <a:schemeClr val="tx1"/>
                </a:solidFill>
                <a:latin typeface="Times New Roman" panose="02020603050405020304" pitchFamily="18" charset="0"/>
                <a:cs typeface="Times New Roman" panose="02020603050405020304" pitchFamily="18" charset="0"/>
              </a:rPr>
              <a:t>Spread knowledge across teams. </a:t>
            </a:r>
          </a:p>
          <a:p>
            <a:r>
              <a:rPr lang="en-US" dirty="0">
                <a:solidFill>
                  <a:schemeClr val="tx1"/>
                </a:solidFill>
                <a:latin typeface="Times New Roman" panose="02020603050405020304" pitchFamily="18" charset="0"/>
                <a:cs typeface="Times New Roman" panose="02020603050405020304" pitchFamily="18" charset="0"/>
              </a:rPr>
              <a:t>Learn from mistakes. </a:t>
            </a:r>
          </a:p>
          <a:p>
            <a:r>
              <a:rPr lang="en-US" dirty="0">
                <a:solidFill>
                  <a:schemeClr val="tx1"/>
                </a:solidFill>
                <a:latin typeface="Times New Roman" panose="02020603050405020304" pitchFamily="18" charset="0"/>
                <a:cs typeface="Times New Roman" panose="02020603050405020304" pitchFamily="18" charset="0"/>
              </a:rPr>
              <a:t>Avoid repeating problems. </a:t>
            </a:r>
          </a:p>
          <a:p>
            <a:r>
              <a:rPr lang="en-US" dirty="0">
                <a:solidFill>
                  <a:schemeClr val="tx1"/>
                </a:solidFill>
                <a:latin typeface="Times New Roman" panose="02020603050405020304" pitchFamily="18" charset="0"/>
                <a:cs typeface="Times New Roman" panose="02020603050405020304" pitchFamily="18" charset="0"/>
              </a:rPr>
              <a:t>Encourage innovation. </a:t>
            </a:r>
          </a:p>
          <a:p>
            <a:endParaRPr lang="en-US" dirty="0">
              <a:solidFill>
                <a:schemeClr val="tx1"/>
              </a:solidFill>
              <a:latin typeface="Times New Roman" panose="02020603050405020304" pitchFamily="18" charset="0"/>
              <a:cs typeface="Times New Roman" panose="02020603050405020304" pitchFamily="18" charset="0"/>
            </a:endParaRPr>
          </a:p>
          <a:p>
            <a:endParaRPr 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6234113"/>
      </p:ext>
    </p:extLst>
  </p:cSld>
  <p:clrMapOvr>
    <a:masterClrMapping/>
  </p:clrMapOvr>
  <p:transition spd="slow">
    <p:push dir="u"/>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13795" y="942109"/>
            <a:ext cx="10353762" cy="5500255"/>
          </a:xfrm>
        </p:spPr>
        <p:txBody>
          <a:bodyPr>
            <a:normAutofit/>
          </a:bodyPr>
          <a:lstStyle/>
          <a:p>
            <a:r>
              <a:rPr lang="en-US" sz="2600" b="1" dirty="0" smtClean="0">
                <a:solidFill>
                  <a:schemeClr val="tx1"/>
                </a:solidFill>
                <a:latin typeface="Times New Roman" panose="02020603050405020304" pitchFamily="18" charset="0"/>
                <a:cs typeface="Times New Roman" panose="02020603050405020304" pitchFamily="18" charset="0"/>
              </a:rPr>
              <a:t>What </a:t>
            </a:r>
            <a:r>
              <a:rPr lang="en-US" sz="2600" b="1" dirty="0">
                <a:solidFill>
                  <a:schemeClr val="tx1"/>
                </a:solidFill>
                <a:latin typeface="Times New Roman" panose="02020603050405020304" pitchFamily="18" charset="0"/>
                <a:cs typeface="Times New Roman" panose="02020603050405020304" pitchFamily="18" charset="0"/>
              </a:rPr>
              <a:t>Teams Share</a:t>
            </a:r>
          </a:p>
          <a:p>
            <a:r>
              <a:rPr lang="en-US" sz="2600" dirty="0">
                <a:solidFill>
                  <a:schemeClr val="tx1"/>
                </a:solidFill>
                <a:latin typeface="Times New Roman" panose="02020603050405020304" pitchFamily="18" charset="0"/>
                <a:cs typeface="Times New Roman" panose="02020603050405020304" pitchFamily="18" charset="0"/>
              </a:rPr>
              <a:t>Documentation </a:t>
            </a:r>
          </a:p>
          <a:p>
            <a:r>
              <a:rPr lang="en-US" sz="2600" dirty="0">
                <a:solidFill>
                  <a:schemeClr val="tx1"/>
                </a:solidFill>
                <a:latin typeface="Times New Roman" panose="02020603050405020304" pitchFamily="18" charset="0"/>
                <a:cs typeface="Times New Roman" panose="02020603050405020304" pitchFamily="18" charset="0"/>
              </a:rPr>
              <a:t>Best practices </a:t>
            </a:r>
          </a:p>
          <a:p>
            <a:r>
              <a:rPr lang="en-US" sz="2600" dirty="0">
                <a:solidFill>
                  <a:schemeClr val="tx1"/>
                </a:solidFill>
                <a:latin typeface="Times New Roman" panose="02020603050405020304" pitchFamily="18" charset="0"/>
                <a:cs typeface="Times New Roman" panose="02020603050405020304" pitchFamily="18" charset="0"/>
              </a:rPr>
              <a:t>Code reviews </a:t>
            </a:r>
          </a:p>
          <a:p>
            <a:r>
              <a:rPr lang="en-US" sz="2600" dirty="0">
                <a:solidFill>
                  <a:schemeClr val="tx1"/>
                </a:solidFill>
                <a:latin typeface="Times New Roman" panose="02020603050405020304" pitchFamily="18" charset="0"/>
                <a:cs typeface="Times New Roman" panose="02020603050405020304" pitchFamily="18" charset="0"/>
              </a:rPr>
              <a:t>Deployment procedures </a:t>
            </a:r>
          </a:p>
          <a:p>
            <a:r>
              <a:rPr lang="en-US" sz="2600" dirty="0">
                <a:solidFill>
                  <a:schemeClr val="tx1"/>
                </a:solidFill>
                <a:latin typeface="Times New Roman" panose="02020603050405020304" pitchFamily="18" charset="0"/>
                <a:cs typeface="Times New Roman" panose="02020603050405020304" pitchFamily="18" charset="0"/>
              </a:rPr>
              <a:t>Lessons learned </a:t>
            </a:r>
          </a:p>
          <a:p>
            <a:r>
              <a:rPr lang="en-US" sz="2600" dirty="0">
                <a:solidFill>
                  <a:schemeClr val="tx1"/>
                </a:solidFill>
                <a:latin typeface="Times New Roman" panose="02020603050405020304" pitchFamily="18" charset="0"/>
                <a:cs typeface="Times New Roman" panose="02020603050405020304" pitchFamily="18" charset="0"/>
              </a:rPr>
              <a:t>Incident reports </a:t>
            </a:r>
          </a:p>
          <a:p>
            <a:r>
              <a:rPr lang="en-US" sz="2600" dirty="0">
                <a:solidFill>
                  <a:schemeClr val="tx1"/>
                </a:solidFill>
                <a:latin typeface="Times New Roman" panose="02020603050405020304" pitchFamily="18" charset="0"/>
                <a:cs typeface="Times New Roman" panose="02020603050405020304" pitchFamily="18" charset="0"/>
              </a:rPr>
              <a:t>Performance dashboards</a:t>
            </a:r>
          </a:p>
          <a:p>
            <a:endParaRPr lang="en-US" dirty="0"/>
          </a:p>
        </p:txBody>
      </p:sp>
      <p:sp>
        <p:nvSpPr>
          <p:cNvPr id="4" name="TextBox 3"/>
          <p:cNvSpPr txBox="1"/>
          <p:nvPr/>
        </p:nvSpPr>
        <p:spPr>
          <a:xfrm>
            <a:off x="5694217" y="942109"/>
            <a:ext cx="5043055" cy="295465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Knowledge Sharing Methods</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Daily stand-up meetings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Team retrospectives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Wiki pages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Documentation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Workshops </a:t>
            </a:r>
          </a:p>
          <a:p>
            <a:pPr marL="342900" indent="-3429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Internal training sessions</a:t>
            </a:r>
          </a:p>
          <a:p>
            <a:endParaRPr lang="en-US" dirty="0"/>
          </a:p>
        </p:txBody>
      </p:sp>
    </p:spTree>
    <p:extLst>
      <p:ext uri="{BB962C8B-B14F-4D97-AF65-F5344CB8AC3E}">
        <p14:creationId xmlns:p14="http://schemas.microsoft.com/office/powerpoint/2010/main" val="3645576679"/>
      </p:ext>
    </p:extLst>
  </p:cSld>
  <p:clrMapOvr>
    <a:masterClrMapping/>
  </p:clrMapOvr>
  <p:transition spd="slow">
    <p:push dir="u"/>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Real-Life Example of CAMS</a:t>
            </a:r>
            <a:br>
              <a:rPr lang="en-US" b="1" dirty="0"/>
            </a:br>
            <a:endParaRPr lang="en-US" dirty="0"/>
          </a:p>
        </p:txBody>
      </p:sp>
      <p:sp>
        <p:nvSpPr>
          <p:cNvPr id="3" name="Content Placeholder 2"/>
          <p:cNvSpPr>
            <a:spLocks noGrp="1"/>
          </p:cNvSpPr>
          <p:nvPr>
            <p:ph idx="1"/>
          </p:nvPr>
        </p:nvSpPr>
        <p:spPr/>
        <p:txBody>
          <a:bodyPr>
            <a:normAutofit/>
          </a:bodyPr>
          <a:lstStyle/>
          <a:p>
            <a:r>
              <a:rPr lang="en-US" b="1" dirty="0" smtClean="0"/>
              <a:t>Company</a:t>
            </a:r>
            <a:r>
              <a:rPr lang="en-US" b="1" dirty="0"/>
              <a:t>: Amazon</a:t>
            </a:r>
            <a:endParaRPr lang="en-US" dirty="0"/>
          </a:p>
          <a:p>
            <a:r>
              <a:rPr lang="en-US" b="1" dirty="0"/>
              <a:t>Culture:</a:t>
            </a:r>
            <a:r>
              <a:rPr lang="en-US" dirty="0"/>
              <a:t> Developers, testers, and operations teams work together. </a:t>
            </a:r>
          </a:p>
          <a:p>
            <a:r>
              <a:rPr lang="en-US" b="1" dirty="0"/>
              <a:t>Automation:</a:t>
            </a:r>
            <a:r>
              <a:rPr lang="en-US" dirty="0"/>
              <a:t> Jenkins automatically builds and tests every code change. </a:t>
            </a:r>
          </a:p>
          <a:p>
            <a:r>
              <a:rPr lang="en-US" b="1" dirty="0"/>
              <a:t>Measurement:</a:t>
            </a:r>
            <a:r>
              <a:rPr lang="en-US" dirty="0"/>
              <a:t> </a:t>
            </a:r>
            <a:r>
              <a:rPr lang="en-US" dirty="0" err="1"/>
              <a:t>CloudWatch</a:t>
            </a:r>
            <a:r>
              <a:rPr lang="en-US" dirty="0"/>
              <a:t> monitors application performance, server health, and response time. </a:t>
            </a:r>
          </a:p>
          <a:p>
            <a:r>
              <a:rPr lang="en-US" b="1" dirty="0"/>
              <a:t>Sharing:</a:t>
            </a:r>
            <a:r>
              <a:rPr lang="en-US" dirty="0"/>
              <a:t> Teams discuss deployment results, share lessons learned, and continuously improve future releases.</a:t>
            </a:r>
          </a:p>
          <a:p>
            <a:endParaRPr lang="en-US" dirty="0"/>
          </a:p>
        </p:txBody>
      </p:sp>
    </p:spTree>
    <p:extLst>
      <p:ext uri="{BB962C8B-B14F-4D97-AF65-F5344CB8AC3E}">
        <p14:creationId xmlns:p14="http://schemas.microsoft.com/office/powerpoint/2010/main" val="1748914534"/>
      </p:ext>
    </p:extLst>
  </p:cSld>
  <p:clrMapOvr>
    <a:masterClrMapping/>
  </p:clrMapOvr>
  <p:transition spd="slow">
    <p:push dir="u"/>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chemeClr val="tx1"/>
                </a:solidFill>
              </a:rPr>
              <a:t>Advantages of the CAMS Model</a:t>
            </a:r>
            <a:br>
              <a:rPr lang="en-US" b="1" dirty="0">
                <a:solidFill>
                  <a:schemeClr val="tx1"/>
                </a:solidFill>
              </a:rPr>
            </a:br>
            <a:endParaRPr lang="en-US" dirty="0">
              <a:solidFill>
                <a:schemeClr val="tx1"/>
              </a:solidFill>
            </a:endParaRPr>
          </a:p>
        </p:txBody>
      </p:sp>
      <p:sp>
        <p:nvSpPr>
          <p:cNvPr id="3" name="Content Placeholder 2"/>
          <p:cNvSpPr>
            <a:spLocks noGrp="1"/>
          </p:cNvSpPr>
          <p:nvPr>
            <p:ph idx="1"/>
          </p:nvPr>
        </p:nvSpPr>
        <p:spPr>
          <a:xfrm>
            <a:off x="913795" y="2076450"/>
            <a:ext cx="10353762" cy="4379768"/>
          </a:xfrm>
        </p:spPr>
        <p:txBody>
          <a:bodyPr>
            <a:noAutofit/>
          </a:bodyPr>
          <a:lstStyle/>
          <a:p>
            <a:r>
              <a:rPr lang="en-US" sz="2400" dirty="0" smtClean="0">
                <a:solidFill>
                  <a:schemeClr val="tx1"/>
                </a:solidFill>
                <a:latin typeface="Times New Roman" panose="02020603050405020304" pitchFamily="18" charset="0"/>
                <a:cs typeface="Times New Roman" panose="02020603050405020304" pitchFamily="18" charset="0"/>
              </a:rPr>
              <a:t>Encourages </a:t>
            </a:r>
            <a:r>
              <a:rPr lang="en-US" sz="2400" dirty="0">
                <a:solidFill>
                  <a:schemeClr val="tx1"/>
                </a:solidFill>
                <a:latin typeface="Times New Roman" panose="02020603050405020304" pitchFamily="18" charset="0"/>
                <a:cs typeface="Times New Roman" panose="02020603050405020304" pitchFamily="18" charset="0"/>
              </a:rPr>
              <a:t>teamwork and collaboration. </a:t>
            </a:r>
          </a:p>
          <a:p>
            <a:r>
              <a:rPr lang="en-US" sz="2400" dirty="0">
                <a:solidFill>
                  <a:schemeClr val="tx1"/>
                </a:solidFill>
                <a:latin typeface="Times New Roman" panose="02020603050405020304" pitchFamily="18" charset="0"/>
                <a:cs typeface="Times New Roman" panose="02020603050405020304" pitchFamily="18" charset="0"/>
              </a:rPr>
              <a:t>Reduces manual effort through automation. </a:t>
            </a:r>
          </a:p>
          <a:p>
            <a:r>
              <a:rPr lang="en-US" sz="2400" dirty="0">
                <a:solidFill>
                  <a:schemeClr val="tx1"/>
                </a:solidFill>
                <a:latin typeface="Times New Roman" panose="02020603050405020304" pitchFamily="18" charset="0"/>
                <a:cs typeface="Times New Roman" panose="02020603050405020304" pitchFamily="18" charset="0"/>
              </a:rPr>
              <a:t>Enables data-driven decision making using metrics. </a:t>
            </a:r>
          </a:p>
          <a:p>
            <a:r>
              <a:rPr lang="en-US" sz="2400" dirty="0">
                <a:solidFill>
                  <a:schemeClr val="tx1"/>
                </a:solidFill>
                <a:latin typeface="Times New Roman" panose="02020603050405020304" pitchFamily="18" charset="0"/>
                <a:cs typeface="Times New Roman" panose="02020603050405020304" pitchFamily="18" charset="0"/>
              </a:rPr>
              <a:t>Promotes continuous learning and knowledge sharing. </a:t>
            </a:r>
          </a:p>
          <a:p>
            <a:r>
              <a:rPr lang="en-US" sz="2400" dirty="0">
                <a:solidFill>
                  <a:schemeClr val="tx1"/>
                </a:solidFill>
                <a:latin typeface="Times New Roman" panose="02020603050405020304" pitchFamily="18" charset="0"/>
                <a:cs typeface="Times New Roman" panose="02020603050405020304" pitchFamily="18" charset="0"/>
              </a:rPr>
              <a:t>Improves software quality and reliability. </a:t>
            </a:r>
          </a:p>
          <a:p>
            <a:r>
              <a:rPr lang="en-US" sz="2400" dirty="0">
                <a:solidFill>
                  <a:schemeClr val="tx1"/>
                </a:solidFill>
                <a:latin typeface="Times New Roman" panose="02020603050405020304" pitchFamily="18" charset="0"/>
                <a:cs typeface="Times New Roman" panose="02020603050405020304" pitchFamily="18" charset="0"/>
              </a:rPr>
              <a:t>Speeds up software delivery. </a:t>
            </a:r>
          </a:p>
          <a:p>
            <a:r>
              <a:rPr lang="en-US" sz="2400" dirty="0">
                <a:solidFill>
                  <a:schemeClr val="tx1"/>
                </a:solidFill>
                <a:latin typeface="Times New Roman" panose="02020603050405020304" pitchFamily="18" charset="0"/>
                <a:cs typeface="Times New Roman" panose="02020603050405020304" pitchFamily="18" charset="0"/>
              </a:rPr>
              <a:t>Increases customer satisfaction. </a:t>
            </a:r>
          </a:p>
          <a:p>
            <a:r>
              <a:rPr lang="en-US" sz="2400" dirty="0">
                <a:solidFill>
                  <a:schemeClr val="tx1"/>
                </a:solidFill>
                <a:latin typeface="Times New Roman" panose="02020603050405020304" pitchFamily="18" charset="0"/>
                <a:cs typeface="Times New Roman" panose="02020603050405020304" pitchFamily="18" charset="0"/>
              </a:rPr>
              <a:t>Supports continuous improvement and innovation. </a:t>
            </a:r>
          </a:p>
          <a:p>
            <a:endParaRPr lang="en-US" sz="24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38172222"/>
      </p:ext>
    </p:extLst>
  </p:cSld>
  <p:clrMapOvr>
    <a:masterClrMapping/>
  </p:clrMapOvr>
  <p:transition spd="slow">
    <p:push dir="u"/>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Thank You!</a:t>
            </a:r>
            <a:endParaRPr lang="en-US" dirty="0"/>
          </a:p>
        </p:txBody>
      </p:sp>
      <p:sp>
        <p:nvSpPr>
          <p:cNvPr id="3" name="Subtitle 2"/>
          <p:cNvSpPr>
            <a:spLocks noGrp="1"/>
          </p:cNvSpPr>
          <p:nvPr>
            <p:ph type="subTitle" idx="1"/>
          </p:nvPr>
        </p:nvSpPr>
        <p:spPr/>
        <p:txBody>
          <a:bodyPr/>
          <a:lstStyle/>
          <a:p>
            <a:r>
              <a:rPr lang="en-US" dirty="0" smtClean="0"/>
              <a:t>Unit –I End</a:t>
            </a:r>
            <a:endParaRPr lang="en-US" dirty="0"/>
          </a:p>
        </p:txBody>
      </p:sp>
    </p:spTree>
    <p:extLst>
      <p:ext uri="{BB962C8B-B14F-4D97-AF65-F5344CB8AC3E}">
        <p14:creationId xmlns:p14="http://schemas.microsoft.com/office/powerpoint/2010/main" val="1045748402"/>
      </p:ext>
    </p:extLst>
  </p:cSld>
  <p:clrMapOvr>
    <a:masterClrMapping/>
  </p:clrMapOvr>
  <p:transition spd="slow">
    <p:push dir="u"/>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Coffee">
      <a:dk1>
        <a:sysClr val="windowText" lastClr="000000"/>
      </a:dk1>
      <a:lt1>
        <a:sysClr val="window" lastClr="FFFFFF"/>
      </a:lt1>
      <a:dk2>
        <a:srgbClr val="4E3B30"/>
      </a:dk2>
      <a:lt2>
        <a:srgbClr val="F4EEDC"/>
      </a:lt2>
      <a:accent1>
        <a:srgbClr val="CC830E"/>
      </a:accent1>
      <a:accent2>
        <a:srgbClr val="B54C2D"/>
      </a:accent2>
      <a:accent3>
        <a:srgbClr val="99570C"/>
      </a:accent3>
      <a:accent4>
        <a:srgbClr val="C17529"/>
      </a:accent4>
      <a:accent5>
        <a:srgbClr val="A19574"/>
      </a:accent5>
      <a:accent6>
        <a:srgbClr val="A49518"/>
      </a:accent6>
      <a:hlink>
        <a:srgbClr val="AD1F1F"/>
      </a:hlink>
      <a:folHlink>
        <a:srgbClr val="FFC42F"/>
      </a:folHlink>
    </a:clrScheme>
    <a:fontScheme name="Custom 4">
      <a:majorFont>
        <a:latin typeface="Goudy Old Style"/>
        <a:ea typeface=""/>
        <a:cs typeface=""/>
      </a:majorFont>
      <a:minorFont>
        <a:latin typeface="Goudy Old Style"/>
        <a:ea typeface=""/>
        <a:cs typeface=""/>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Earthy inspiration</Template>
  <TotalTime>0</TotalTime>
  <Words>3143</Words>
  <Application>Microsoft Office PowerPoint</Application>
  <PresentationFormat>Widescreen</PresentationFormat>
  <Paragraphs>405</Paragraphs>
  <Slides>41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Arial</vt:lpstr>
      <vt:lpstr>Calibri</vt:lpstr>
      <vt:lpstr>Goudy Old Style</vt:lpstr>
      <vt:lpstr>Times New Roman</vt:lpstr>
      <vt:lpstr>Trebuchet MS</vt:lpstr>
      <vt:lpstr>Wingdings 2</vt:lpstr>
      <vt:lpstr>SlateVTI</vt:lpstr>
      <vt:lpstr>Introduction to DevOps </vt:lpstr>
      <vt:lpstr>What is DevOps?</vt:lpstr>
      <vt:lpstr> </vt:lpstr>
      <vt:lpstr>Why Do We Need DevOps?</vt:lpstr>
      <vt:lpstr> Problems Before DevOps </vt:lpstr>
      <vt:lpstr>Evolution of Software Development</vt:lpstr>
      <vt:lpstr>2. Agile Methodology </vt:lpstr>
      <vt:lpstr>3. DevOps </vt:lpstr>
      <vt:lpstr>Development Team vs Operations Team</vt:lpstr>
      <vt:lpstr>PowerPoint Presentation</vt:lpstr>
      <vt:lpstr>Benefits of DevOps</vt:lpstr>
      <vt:lpstr>Benefits of DevOps</vt:lpstr>
      <vt:lpstr>SDLC (Software Development Life Cycle) &amp; DevOps Integration </vt:lpstr>
      <vt:lpstr>SDLC Without DevOps</vt:lpstr>
      <vt:lpstr>Role of the Development Team (Dev)</vt:lpstr>
      <vt:lpstr>Role of the Operations Team (Ops)</vt:lpstr>
      <vt:lpstr>Challenges Between Dev and Ops</vt:lpstr>
      <vt:lpstr>Common Challenges</vt:lpstr>
      <vt:lpstr>PowerPoint Presentation</vt:lpstr>
      <vt:lpstr>How DevOps Solves These Problems</vt:lpstr>
      <vt:lpstr>Traditional SDLC Models (Waterfall &amp; V-Model)</vt:lpstr>
      <vt:lpstr>PowerPoint Presentation</vt:lpstr>
      <vt:lpstr>V-Model (Verification and Validation Model)</vt:lpstr>
      <vt:lpstr>PowerPoint Presentation</vt:lpstr>
      <vt:lpstr>Waterfall vs V-Model</vt:lpstr>
      <vt:lpstr>What is DevOps Culture?</vt:lpstr>
      <vt:lpstr>Cultural &amp; Organizational Aspects of DevOps </vt:lpstr>
      <vt:lpstr>PowerPoint Presentation</vt:lpstr>
      <vt:lpstr>PowerPoint Presentation</vt:lpstr>
      <vt:lpstr>What is the CAMS Model?</vt:lpstr>
      <vt:lpstr>CAMS Model</vt:lpstr>
      <vt:lpstr>PowerPoint Presentation</vt:lpstr>
      <vt:lpstr>PowerPoint Presentation</vt:lpstr>
      <vt:lpstr>PowerPoint Presentation</vt:lpstr>
      <vt:lpstr>3. M – Measurement</vt:lpstr>
      <vt:lpstr>PowerPoint Presentation</vt:lpstr>
      <vt:lpstr>4. S – Sharing</vt:lpstr>
      <vt:lpstr>PowerPoint Presentation</vt:lpstr>
      <vt:lpstr>Real-Life Example of CAMS </vt:lpstr>
      <vt:lpstr>Advantages of the CAMS Model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cp:revision>
  <dcterms:created xsi:type="dcterms:W3CDTF">2026-07-25T04:00:00Z</dcterms:created>
  <dcterms:modified xsi:type="dcterms:W3CDTF">2026-07-30T06:09:50Z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3B74049BC1E74DAFB5C114B9D6859BD6_12</vt:lpwstr>
  </property>
</Properties>
</file>